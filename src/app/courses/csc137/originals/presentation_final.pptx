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9" r:id="rId4"/>
    <p:sldId id="270" r:id="rId5"/>
    <p:sldId id="271" r:id="rId6"/>
    <p:sldId id="272" r:id="rId7"/>
    <p:sldId id="273" r:id="rId8"/>
    <p:sldId id="274" r:id="rId9"/>
    <p:sldId id="259" r:id="rId10"/>
    <p:sldId id="268" r:id="rId11"/>
    <p:sldId id="275" r:id="rId12"/>
    <p:sldId id="276" r:id="rId13"/>
    <p:sldId id="278" r:id="rId14"/>
    <p:sldId id="279" r:id="rId15"/>
    <p:sldId id="265" r:id="rId16"/>
    <p:sldId id="260" r:id="rId17"/>
    <p:sldId id="261" r:id="rId18"/>
    <p:sldId id="263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5F3"/>
    <a:srgbClr val="F7F5F3"/>
    <a:srgbClr val="F8F5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FA217E-F0CD-C0D4-A289-3EBAA3C513EF}" v="118" dt="2024-09-25T23:40:25.401"/>
    <p1510:client id="{D80F302A-FE36-4355-00FC-E7BB7E418685}" v="15" dt="2024-09-25T23:07:45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6ABBB2-9BA5-4A12-8120-C6C755D76F5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E24B59C-7408-4C1B-B994-4A0EFB422416}">
      <dgm:prSet/>
      <dgm:spPr/>
      <dgm:t>
        <a:bodyPr/>
        <a:lstStyle/>
        <a:p>
          <a:r>
            <a:rPr lang="en-US"/>
            <a:t>Entanglement theory</a:t>
          </a:r>
        </a:p>
      </dgm:t>
    </dgm:pt>
    <dgm:pt modelId="{7987A204-8117-43C8-ABA4-E32FD7B2BF44}" type="parTrans" cxnId="{9D91F0C5-B19F-4B18-94C5-EEDA929F4D19}">
      <dgm:prSet/>
      <dgm:spPr/>
      <dgm:t>
        <a:bodyPr/>
        <a:lstStyle/>
        <a:p>
          <a:endParaRPr lang="en-US"/>
        </a:p>
      </dgm:t>
    </dgm:pt>
    <dgm:pt modelId="{A06AD9D0-72A5-4C91-A219-3FFBB9B1BCE4}" type="sibTrans" cxnId="{9D91F0C5-B19F-4B18-94C5-EEDA929F4D19}">
      <dgm:prSet/>
      <dgm:spPr/>
      <dgm:t>
        <a:bodyPr/>
        <a:lstStyle/>
        <a:p>
          <a:endParaRPr lang="en-US"/>
        </a:p>
      </dgm:t>
    </dgm:pt>
    <dgm:pt modelId="{B49FFE2D-4A11-4A0C-B62C-E95A93A98CEF}">
      <dgm:prSet/>
      <dgm:spPr/>
      <dgm:t>
        <a:bodyPr/>
        <a:lstStyle/>
        <a:p>
          <a:r>
            <a:rPr lang="en-US"/>
            <a:t>General relativity</a:t>
          </a:r>
        </a:p>
      </dgm:t>
    </dgm:pt>
    <dgm:pt modelId="{9DD5137A-87DC-40D8-B764-C284FAA0F25A}" type="parTrans" cxnId="{4C356167-C480-4DC2-BCAE-0B381B6FE385}">
      <dgm:prSet/>
      <dgm:spPr/>
      <dgm:t>
        <a:bodyPr/>
        <a:lstStyle/>
        <a:p>
          <a:endParaRPr lang="en-US"/>
        </a:p>
      </dgm:t>
    </dgm:pt>
    <dgm:pt modelId="{04593919-5F11-44DE-9553-FAA57B141ED9}" type="sibTrans" cxnId="{4C356167-C480-4DC2-BCAE-0B381B6FE385}">
      <dgm:prSet/>
      <dgm:spPr/>
      <dgm:t>
        <a:bodyPr/>
        <a:lstStyle/>
        <a:p>
          <a:endParaRPr lang="en-US"/>
        </a:p>
      </dgm:t>
    </dgm:pt>
    <dgm:pt modelId="{B0D86D27-0975-4615-8861-1E10E382F180}" type="pres">
      <dgm:prSet presAssocID="{A86ABBB2-9BA5-4A12-8120-C6C755D76F55}" presName="root" presStyleCnt="0">
        <dgm:presLayoutVars>
          <dgm:dir/>
          <dgm:resizeHandles val="exact"/>
        </dgm:presLayoutVars>
      </dgm:prSet>
      <dgm:spPr/>
    </dgm:pt>
    <dgm:pt modelId="{2B914352-980D-4F9E-A5AC-7B86BD52BEB0}" type="pres">
      <dgm:prSet presAssocID="{BE24B59C-7408-4C1B-B994-4A0EFB422416}" presName="compNode" presStyleCnt="0"/>
      <dgm:spPr/>
    </dgm:pt>
    <dgm:pt modelId="{765A681C-E80F-4AB7-9E4D-BABE2F15A56C}" type="pres">
      <dgm:prSet presAssocID="{BE24B59C-7408-4C1B-B994-4A0EFB42241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E73DC7C-6F8D-4291-A6B2-51647F5946BA}" type="pres">
      <dgm:prSet presAssocID="{BE24B59C-7408-4C1B-B994-4A0EFB422416}" presName="spaceRect" presStyleCnt="0"/>
      <dgm:spPr/>
    </dgm:pt>
    <dgm:pt modelId="{8076DDCC-6D4D-4FC1-BE7F-75CD5BBDC769}" type="pres">
      <dgm:prSet presAssocID="{BE24B59C-7408-4C1B-B994-4A0EFB422416}" presName="textRect" presStyleLbl="revTx" presStyleIdx="0" presStyleCnt="2">
        <dgm:presLayoutVars>
          <dgm:chMax val="1"/>
          <dgm:chPref val="1"/>
        </dgm:presLayoutVars>
      </dgm:prSet>
      <dgm:spPr/>
    </dgm:pt>
    <dgm:pt modelId="{971A2F2B-2354-423B-9734-3B112F4F3A99}" type="pres">
      <dgm:prSet presAssocID="{A06AD9D0-72A5-4C91-A219-3FFBB9B1BCE4}" presName="sibTrans" presStyleCnt="0"/>
      <dgm:spPr/>
    </dgm:pt>
    <dgm:pt modelId="{08C7D0A8-119D-45B6-89ED-C10619ADBEDE}" type="pres">
      <dgm:prSet presAssocID="{B49FFE2D-4A11-4A0C-B62C-E95A93A98CEF}" presName="compNode" presStyleCnt="0"/>
      <dgm:spPr/>
    </dgm:pt>
    <dgm:pt modelId="{D378C639-CB09-4D98-8572-D06C9F012607}" type="pres">
      <dgm:prSet presAssocID="{B49FFE2D-4A11-4A0C-B62C-E95A93A98CE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B835CD7F-A259-4829-BBDF-402607CE9625}" type="pres">
      <dgm:prSet presAssocID="{B49FFE2D-4A11-4A0C-B62C-E95A93A98CEF}" presName="spaceRect" presStyleCnt="0"/>
      <dgm:spPr/>
    </dgm:pt>
    <dgm:pt modelId="{DD337AFC-0A03-46D3-BA11-155A1F8C8FE7}" type="pres">
      <dgm:prSet presAssocID="{B49FFE2D-4A11-4A0C-B62C-E95A93A98CE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C356167-C480-4DC2-BCAE-0B381B6FE385}" srcId="{A86ABBB2-9BA5-4A12-8120-C6C755D76F55}" destId="{B49FFE2D-4A11-4A0C-B62C-E95A93A98CEF}" srcOrd="1" destOrd="0" parTransId="{9DD5137A-87DC-40D8-B764-C284FAA0F25A}" sibTransId="{04593919-5F11-44DE-9553-FAA57B141ED9}"/>
    <dgm:cxn modelId="{9D91F0C5-B19F-4B18-94C5-EEDA929F4D19}" srcId="{A86ABBB2-9BA5-4A12-8120-C6C755D76F55}" destId="{BE24B59C-7408-4C1B-B994-4A0EFB422416}" srcOrd="0" destOrd="0" parTransId="{7987A204-8117-43C8-ABA4-E32FD7B2BF44}" sibTransId="{A06AD9D0-72A5-4C91-A219-3FFBB9B1BCE4}"/>
    <dgm:cxn modelId="{13A550DA-0C85-45B8-9530-D1CD6EEAEF4C}" type="presOf" srcId="{A86ABBB2-9BA5-4A12-8120-C6C755D76F55}" destId="{B0D86D27-0975-4615-8861-1E10E382F180}" srcOrd="0" destOrd="0" presId="urn:microsoft.com/office/officeart/2018/2/layout/IconLabelList"/>
    <dgm:cxn modelId="{6CE482DC-86D5-407D-A6AB-580989DD782C}" type="presOf" srcId="{BE24B59C-7408-4C1B-B994-4A0EFB422416}" destId="{8076DDCC-6D4D-4FC1-BE7F-75CD5BBDC769}" srcOrd="0" destOrd="0" presId="urn:microsoft.com/office/officeart/2018/2/layout/IconLabelList"/>
    <dgm:cxn modelId="{92B590E9-A906-49B3-A218-52700924DE44}" type="presOf" srcId="{B49FFE2D-4A11-4A0C-B62C-E95A93A98CEF}" destId="{DD337AFC-0A03-46D3-BA11-155A1F8C8FE7}" srcOrd="0" destOrd="0" presId="urn:microsoft.com/office/officeart/2018/2/layout/IconLabelList"/>
    <dgm:cxn modelId="{2DEC57B9-D506-4666-970B-47833B11AD0C}" type="presParOf" srcId="{B0D86D27-0975-4615-8861-1E10E382F180}" destId="{2B914352-980D-4F9E-A5AC-7B86BD52BEB0}" srcOrd="0" destOrd="0" presId="urn:microsoft.com/office/officeart/2018/2/layout/IconLabelList"/>
    <dgm:cxn modelId="{F5086219-CADE-495C-8FCB-07518551CA63}" type="presParOf" srcId="{2B914352-980D-4F9E-A5AC-7B86BD52BEB0}" destId="{765A681C-E80F-4AB7-9E4D-BABE2F15A56C}" srcOrd="0" destOrd="0" presId="urn:microsoft.com/office/officeart/2018/2/layout/IconLabelList"/>
    <dgm:cxn modelId="{7D96ED05-BB62-47EB-A942-72ED288D89EA}" type="presParOf" srcId="{2B914352-980D-4F9E-A5AC-7B86BD52BEB0}" destId="{9E73DC7C-6F8D-4291-A6B2-51647F5946BA}" srcOrd="1" destOrd="0" presId="urn:microsoft.com/office/officeart/2018/2/layout/IconLabelList"/>
    <dgm:cxn modelId="{38FF22B0-131F-4BE1-94F5-5B5ABA3FF12A}" type="presParOf" srcId="{2B914352-980D-4F9E-A5AC-7B86BD52BEB0}" destId="{8076DDCC-6D4D-4FC1-BE7F-75CD5BBDC769}" srcOrd="2" destOrd="0" presId="urn:microsoft.com/office/officeart/2018/2/layout/IconLabelList"/>
    <dgm:cxn modelId="{7362DFBF-1E0C-4E1B-B278-728855DBF2DE}" type="presParOf" srcId="{B0D86D27-0975-4615-8861-1E10E382F180}" destId="{971A2F2B-2354-423B-9734-3B112F4F3A99}" srcOrd="1" destOrd="0" presId="urn:microsoft.com/office/officeart/2018/2/layout/IconLabelList"/>
    <dgm:cxn modelId="{71E09CCB-C919-49D4-BA86-923632D2DB13}" type="presParOf" srcId="{B0D86D27-0975-4615-8861-1E10E382F180}" destId="{08C7D0A8-119D-45B6-89ED-C10619ADBEDE}" srcOrd="2" destOrd="0" presId="urn:microsoft.com/office/officeart/2018/2/layout/IconLabelList"/>
    <dgm:cxn modelId="{BF3688B9-407E-42C1-B824-E0CD4D3442AC}" type="presParOf" srcId="{08C7D0A8-119D-45B6-89ED-C10619ADBEDE}" destId="{D378C639-CB09-4D98-8572-D06C9F012607}" srcOrd="0" destOrd="0" presId="urn:microsoft.com/office/officeart/2018/2/layout/IconLabelList"/>
    <dgm:cxn modelId="{551346AE-E23E-4BC8-82A9-37DB922E9ED5}" type="presParOf" srcId="{08C7D0A8-119D-45B6-89ED-C10619ADBEDE}" destId="{B835CD7F-A259-4829-BBDF-402607CE9625}" srcOrd="1" destOrd="0" presId="urn:microsoft.com/office/officeart/2018/2/layout/IconLabelList"/>
    <dgm:cxn modelId="{AE227725-6475-4D1D-BDF6-C5A227844DF8}" type="presParOf" srcId="{08C7D0A8-119D-45B6-89ED-C10619ADBEDE}" destId="{DD337AFC-0A03-46D3-BA11-155A1F8C8FE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376165-E548-439D-B8AA-31123B6D25E5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4EDC4C1-0E25-4754-BAD0-2E6F5E2F30FC}">
      <dgm:prSet/>
      <dgm:spPr/>
      <dgm:t>
        <a:bodyPr/>
        <a:lstStyle/>
        <a:p>
          <a:r>
            <a:rPr lang="en-US"/>
            <a:t>Qubit = {0,1}^n</a:t>
          </a:r>
        </a:p>
      </dgm:t>
    </dgm:pt>
    <dgm:pt modelId="{51CD2311-5081-4416-84F7-CBAE216D6592}" type="parTrans" cxnId="{B0470991-6173-4DF8-8F8C-783903356CF4}">
      <dgm:prSet/>
      <dgm:spPr/>
      <dgm:t>
        <a:bodyPr/>
        <a:lstStyle/>
        <a:p>
          <a:endParaRPr lang="en-US"/>
        </a:p>
      </dgm:t>
    </dgm:pt>
    <dgm:pt modelId="{9294BC06-9234-4702-9DFC-A2CE8E8E3D7F}" type="sibTrans" cxnId="{B0470991-6173-4DF8-8F8C-783903356CF4}">
      <dgm:prSet/>
      <dgm:spPr/>
      <dgm:t>
        <a:bodyPr/>
        <a:lstStyle/>
        <a:p>
          <a:endParaRPr lang="en-US"/>
        </a:p>
      </dgm:t>
    </dgm:pt>
    <dgm:pt modelId="{74A73C40-8BB2-4B66-8432-6F820F22DF25}">
      <dgm:prSet/>
      <dgm:spPr/>
      <dgm:t>
        <a:bodyPr/>
        <a:lstStyle/>
        <a:p>
          <a:r>
            <a:rPr lang="en-US"/>
            <a:t>Decoding  =&gt; store that has n times of bits can be stored in 1 qubit</a:t>
          </a:r>
        </a:p>
      </dgm:t>
    </dgm:pt>
    <dgm:pt modelId="{AE30515D-D97C-4537-B295-B77008C0653D}" type="parTrans" cxnId="{6402E17C-EA36-4C3E-BFD8-5DF7ABD97528}">
      <dgm:prSet/>
      <dgm:spPr/>
      <dgm:t>
        <a:bodyPr/>
        <a:lstStyle/>
        <a:p>
          <a:endParaRPr lang="en-US"/>
        </a:p>
      </dgm:t>
    </dgm:pt>
    <dgm:pt modelId="{0E915504-4E75-4656-B811-1F2F284C9E68}" type="sibTrans" cxnId="{6402E17C-EA36-4C3E-BFD8-5DF7ABD97528}">
      <dgm:prSet/>
      <dgm:spPr/>
      <dgm:t>
        <a:bodyPr/>
        <a:lstStyle/>
        <a:p>
          <a:endParaRPr lang="en-US"/>
        </a:p>
      </dgm:t>
    </dgm:pt>
    <dgm:pt modelId="{01F6B805-7A05-49D0-AE15-40D8650EB178}">
      <dgm:prSet/>
      <dgm:spPr/>
      <dgm:t>
        <a:bodyPr/>
        <a:lstStyle/>
        <a:p>
          <a:r>
            <a:rPr lang="en-US"/>
            <a:t>Coding =&gt; Using gates, adding serious of function for interference.</a:t>
          </a:r>
        </a:p>
      </dgm:t>
    </dgm:pt>
    <dgm:pt modelId="{99CD86A2-2EE2-4B99-8031-FBA4BB17E69E}" type="parTrans" cxnId="{A5EB880E-FC74-49DB-AFC1-779F59DEDDD0}">
      <dgm:prSet/>
      <dgm:spPr/>
      <dgm:t>
        <a:bodyPr/>
        <a:lstStyle/>
        <a:p>
          <a:endParaRPr lang="en-US"/>
        </a:p>
      </dgm:t>
    </dgm:pt>
    <dgm:pt modelId="{21E8D862-BE54-4BE4-8340-7AD55A2BD51D}" type="sibTrans" cxnId="{A5EB880E-FC74-49DB-AFC1-779F59DEDDD0}">
      <dgm:prSet/>
      <dgm:spPr/>
      <dgm:t>
        <a:bodyPr/>
        <a:lstStyle/>
        <a:p>
          <a:endParaRPr lang="en-US"/>
        </a:p>
      </dgm:t>
    </dgm:pt>
    <dgm:pt modelId="{67A9D297-1D64-4E43-A894-BA4444A61E35}" type="pres">
      <dgm:prSet presAssocID="{5F376165-E548-439D-B8AA-31123B6D25E5}" presName="diagram" presStyleCnt="0">
        <dgm:presLayoutVars>
          <dgm:dir/>
          <dgm:resizeHandles val="exact"/>
        </dgm:presLayoutVars>
      </dgm:prSet>
      <dgm:spPr/>
    </dgm:pt>
    <dgm:pt modelId="{B354DEF5-1BED-474C-8480-599546CB48FF}" type="pres">
      <dgm:prSet presAssocID="{34EDC4C1-0E25-4754-BAD0-2E6F5E2F30FC}" presName="arrow" presStyleLbl="node1" presStyleIdx="0" presStyleCnt="3">
        <dgm:presLayoutVars>
          <dgm:bulletEnabled val="1"/>
        </dgm:presLayoutVars>
      </dgm:prSet>
      <dgm:spPr/>
    </dgm:pt>
    <dgm:pt modelId="{E398DF42-E76D-453F-B2B3-6A09BD1ED9BC}" type="pres">
      <dgm:prSet presAssocID="{74A73C40-8BB2-4B66-8432-6F820F22DF25}" presName="arrow" presStyleLbl="node1" presStyleIdx="1" presStyleCnt="3">
        <dgm:presLayoutVars>
          <dgm:bulletEnabled val="1"/>
        </dgm:presLayoutVars>
      </dgm:prSet>
      <dgm:spPr/>
    </dgm:pt>
    <dgm:pt modelId="{6D34B6A2-984C-4E59-8CB6-B9B81E7FD162}" type="pres">
      <dgm:prSet presAssocID="{01F6B805-7A05-49D0-AE15-40D8650EB178}" presName="arrow" presStyleLbl="node1" presStyleIdx="2" presStyleCnt="3">
        <dgm:presLayoutVars>
          <dgm:bulletEnabled val="1"/>
        </dgm:presLayoutVars>
      </dgm:prSet>
      <dgm:spPr/>
    </dgm:pt>
  </dgm:ptLst>
  <dgm:cxnLst>
    <dgm:cxn modelId="{37825301-DBE6-4B6F-81FD-46CB92D2A9CA}" type="presOf" srcId="{74A73C40-8BB2-4B66-8432-6F820F22DF25}" destId="{E398DF42-E76D-453F-B2B3-6A09BD1ED9BC}" srcOrd="0" destOrd="0" presId="urn:microsoft.com/office/officeart/2005/8/layout/arrow5"/>
    <dgm:cxn modelId="{A5EB880E-FC74-49DB-AFC1-779F59DEDDD0}" srcId="{5F376165-E548-439D-B8AA-31123B6D25E5}" destId="{01F6B805-7A05-49D0-AE15-40D8650EB178}" srcOrd="2" destOrd="0" parTransId="{99CD86A2-2EE2-4B99-8031-FBA4BB17E69E}" sibTransId="{21E8D862-BE54-4BE4-8340-7AD55A2BD51D}"/>
    <dgm:cxn modelId="{6402E17C-EA36-4C3E-BFD8-5DF7ABD97528}" srcId="{5F376165-E548-439D-B8AA-31123B6D25E5}" destId="{74A73C40-8BB2-4B66-8432-6F820F22DF25}" srcOrd="1" destOrd="0" parTransId="{AE30515D-D97C-4537-B295-B77008C0653D}" sibTransId="{0E915504-4E75-4656-B811-1F2F284C9E68}"/>
    <dgm:cxn modelId="{B0470991-6173-4DF8-8F8C-783903356CF4}" srcId="{5F376165-E548-439D-B8AA-31123B6D25E5}" destId="{34EDC4C1-0E25-4754-BAD0-2E6F5E2F30FC}" srcOrd="0" destOrd="0" parTransId="{51CD2311-5081-4416-84F7-CBAE216D6592}" sibTransId="{9294BC06-9234-4702-9DFC-A2CE8E8E3D7F}"/>
    <dgm:cxn modelId="{75420C9C-4795-4169-B0AB-A11E33AB206E}" type="presOf" srcId="{5F376165-E548-439D-B8AA-31123B6D25E5}" destId="{67A9D297-1D64-4E43-A894-BA4444A61E35}" srcOrd="0" destOrd="0" presId="urn:microsoft.com/office/officeart/2005/8/layout/arrow5"/>
    <dgm:cxn modelId="{BEFABBBC-1F9C-47D2-B496-C4FB662A0633}" type="presOf" srcId="{34EDC4C1-0E25-4754-BAD0-2E6F5E2F30FC}" destId="{B354DEF5-1BED-474C-8480-599546CB48FF}" srcOrd="0" destOrd="0" presId="urn:microsoft.com/office/officeart/2005/8/layout/arrow5"/>
    <dgm:cxn modelId="{F46C8FD3-F854-4A35-B9CF-0910E01DC811}" type="presOf" srcId="{01F6B805-7A05-49D0-AE15-40D8650EB178}" destId="{6D34B6A2-984C-4E59-8CB6-B9B81E7FD162}" srcOrd="0" destOrd="0" presId="urn:microsoft.com/office/officeart/2005/8/layout/arrow5"/>
    <dgm:cxn modelId="{9D0D7F70-05C4-44F7-B5AF-6CF29BCAABC7}" type="presParOf" srcId="{67A9D297-1D64-4E43-A894-BA4444A61E35}" destId="{B354DEF5-1BED-474C-8480-599546CB48FF}" srcOrd="0" destOrd="0" presId="urn:microsoft.com/office/officeart/2005/8/layout/arrow5"/>
    <dgm:cxn modelId="{06E82D4E-7716-4B3A-86EE-04643373E77C}" type="presParOf" srcId="{67A9D297-1D64-4E43-A894-BA4444A61E35}" destId="{E398DF42-E76D-453F-B2B3-6A09BD1ED9BC}" srcOrd="1" destOrd="0" presId="urn:microsoft.com/office/officeart/2005/8/layout/arrow5"/>
    <dgm:cxn modelId="{716B587C-7BE8-4E3B-A5D4-DAF018A12413}" type="presParOf" srcId="{67A9D297-1D64-4E43-A894-BA4444A61E35}" destId="{6D34B6A2-984C-4E59-8CB6-B9B81E7FD162}" srcOrd="2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5A681C-E80F-4AB7-9E4D-BABE2F15A56C}">
      <dsp:nvSpPr>
        <dsp:cNvPr id="0" name=""/>
        <dsp:cNvSpPr/>
      </dsp:nvSpPr>
      <dsp:spPr>
        <a:xfrm>
          <a:off x="1747800" y="407356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76DDCC-6D4D-4FC1-BE7F-75CD5BBDC769}">
      <dsp:nvSpPr>
        <dsp:cNvPr id="0" name=""/>
        <dsp:cNvSpPr/>
      </dsp:nvSpPr>
      <dsp:spPr>
        <a:xfrm>
          <a:off x="559800" y="282151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Entanglement theory</a:t>
          </a:r>
        </a:p>
      </dsp:txBody>
      <dsp:txXfrm>
        <a:off x="559800" y="2821519"/>
        <a:ext cx="4320000" cy="720000"/>
      </dsp:txXfrm>
    </dsp:sp>
    <dsp:sp modelId="{D378C639-CB09-4D98-8572-D06C9F012607}">
      <dsp:nvSpPr>
        <dsp:cNvPr id="0" name=""/>
        <dsp:cNvSpPr/>
      </dsp:nvSpPr>
      <dsp:spPr>
        <a:xfrm>
          <a:off x="6823800" y="407356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37AFC-0A03-46D3-BA11-155A1F8C8FE7}">
      <dsp:nvSpPr>
        <dsp:cNvPr id="0" name=""/>
        <dsp:cNvSpPr/>
      </dsp:nvSpPr>
      <dsp:spPr>
        <a:xfrm>
          <a:off x="5635800" y="282151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General relativity</a:t>
          </a:r>
        </a:p>
      </dsp:txBody>
      <dsp:txXfrm>
        <a:off x="5635800" y="2821519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54DEF5-1BED-474C-8480-599546CB48FF}">
      <dsp:nvSpPr>
        <dsp:cNvPr id="0" name=""/>
        <dsp:cNvSpPr/>
      </dsp:nvSpPr>
      <dsp:spPr>
        <a:xfrm>
          <a:off x="4170554" y="642"/>
          <a:ext cx="2174490" cy="2174490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Qubit = {0,1}^n</a:t>
          </a:r>
        </a:p>
      </dsp:txBody>
      <dsp:txXfrm>
        <a:off x="4714177" y="642"/>
        <a:ext cx="1087245" cy="1793954"/>
      </dsp:txXfrm>
    </dsp:sp>
    <dsp:sp modelId="{E398DF42-E76D-453F-B2B3-6A09BD1ED9BC}">
      <dsp:nvSpPr>
        <dsp:cNvPr id="0" name=""/>
        <dsp:cNvSpPr/>
      </dsp:nvSpPr>
      <dsp:spPr>
        <a:xfrm rot="7200000">
          <a:off x="5426615" y="2176204"/>
          <a:ext cx="2174490" cy="2174490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Decoding  =&gt; store that has n times of bits can be stored in 1 qubit</a:t>
          </a:r>
        </a:p>
      </dsp:txBody>
      <dsp:txXfrm rot="-5400000">
        <a:off x="5781660" y="2814960"/>
        <a:ext cx="1793954" cy="1087245"/>
      </dsp:txXfrm>
    </dsp:sp>
    <dsp:sp modelId="{6D34B6A2-984C-4E59-8CB6-B9B81E7FD162}">
      <dsp:nvSpPr>
        <dsp:cNvPr id="0" name=""/>
        <dsp:cNvSpPr/>
      </dsp:nvSpPr>
      <dsp:spPr>
        <a:xfrm rot="14400000">
          <a:off x="2914493" y="2176204"/>
          <a:ext cx="2174490" cy="2174490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Coding =&gt; Using gates, adding serious of function for interference.</a:t>
          </a:r>
        </a:p>
      </dsp:txBody>
      <dsp:txXfrm rot="5400000">
        <a:off x="2939984" y="2814960"/>
        <a:ext cx="1793954" cy="10872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76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46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387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48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6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61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11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1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87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4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41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1110F-1B76-8242-AE2F-5F83B5239CF8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9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ibm_research_zurich/50252942522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ibm_research_zurich/50252942522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.serlo.org/mathe/1569/amplitude-und-ruhelage-der-trigonometrischen-funktione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quantum-journal.org/papers/q-2019-09-09-185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outreach.org/articles/retrocausality-backwards-time-effects-explain-quantum-weirdness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endan.org/khoa-hoc-ky-thuat/sur-la-matiere-ii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urses.lumenlearning.com/introchem/chapter/interference-and-diffraction/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xdciencia.blogspot.com/2012/04/visualizando-las-dimensiones-extra-de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ppingignorance.org/2019/01/09/karl-poppers-constitution-of-science-2/string-theory/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lickr.com/photos/188522613@N05/49919882786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ibm_research_zurich/50252942522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ibm_research_zurich/50252942522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ibm_research_zurich/50252942522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ibm_research_zurich/50252942522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new.nsf.gov/news/self-correcting-quantum-computers-within-reach#:~:text=Running%20a%20complicated%20algorithm%20on,errors%20renders%20the%20algorithm%20useless" TargetMode="External"/><Relationship Id="rId2" Type="http://schemas.openxmlformats.org/officeDocument/2006/relationships/hyperlink" Target="https://www.sdxcentral.com/security/quantum/definitions/what-is-quantum-computing-its-architecture-advantages-and-disadvantage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echtarget.com/searchdatacenter/tip/Explore-future-potential-quantum-computing-uses" TargetMode="External"/><Relationship Id="rId4" Type="http://schemas.openxmlformats.org/officeDocument/2006/relationships/hyperlink" Target="https://builtin.com/hardware/quantum-computing-applications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2/qute.201900070" TargetMode="External"/><Relationship Id="rId7" Type="http://schemas.openxmlformats.org/officeDocument/2006/relationships/hyperlink" Target="https://quantumxc.com/blog/what-are-quantum-networks-and-how-do-they-work/" TargetMode="External"/><Relationship Id="rId2" Type="http://schemas.openxmlformats.org/officeDocument/2006/relationships/hyperlink" Target="https://doi.org/10.1038/s41467-022-31093-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90/math12142243" TargetMode="External"/><Relationship Id="rId5" Type="http://schemas.openxmlformats.org/officeDocument/2006/relationships/hyperlink" Target="https://doi.org/10.48550/arxiv.2405.20416" TargetMode="External"/><Relationship Id="rId4" Type="http://schemas.openxmlformats.org/officeDocument/2006/relationships/hyperlink" Target="https://doi.org/10.1038/d41586-022-03088-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8228F-91CB-4D6E-96D0-8210FDEEE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5180" y="1141711"/>
            <a:ext cx="3276600" cy="34743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highlight>
                  <a:srgbClr val="F8F5F3"/>
                </a:highlight>
              </a:rPr>
              <a:t>The Photo by Photo Author is licensed under CCYYSA.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E49835-231E-F030-EAD4-A9CF4B31D306}"/>
              </a:ext>
            </a:extLst>
          </p:cNvPr>
          <p:cNvSpPr txBox="1"/>
          <p:nvPr/>
        </p:nvSpPr>
        <p:spPr>
          <a:xfrm>
            <a:off x="8105179" y="4609474"/>
            <a:ext cx="3276600" cy="1263291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>
                <a:highlight>
                  <a:srgbClr val="F6F5F3"/>
                </a:highlight>
              </a:rPr>
              <a:t>By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>
                <a:highlight>
                  <a:srgbClr val="F6F5F3"/>
                </a:highlight>
              </a:rPr>
              <a:t> Hamza Hafeez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>
                <a:highlight>
                  <a:srgbClr val="F6F5F3"/>
                </a:highlight>
              </a:rPr>
              <a:t> Kanageshwaran DK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8AE9F5-413D-EA83-F602-62B0633E8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261" y="0"/>
            <a:ext cx="7605866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machine with many wires&#10;&#10;Description automatically generated">
            <a:extLst>
              <a:ext uri="{FF2B5EF4-FFF2-40B4-BE49-F238E27FC236}">
                <a16:creationId xmlns:a16="http://schemas.microsoft.com/office/drawing/2014/main" id="{4CE9E065-CF52-4482-FB7E-F7EEF9C43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5730"/>
          <a:stretch/>
        </p:blipFill>
        <p:spPr>
          <a:xfrm>
            <a:off x="-11611" y="-8549"/>
            <a:ext cx="7600335" cy="6849406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9EB308F-7BCF-52A4-D6D8-8F3EB6723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86293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06F5691-19DF-BBC9-CDE7-7BCEBC3FEC2E}"/>
              </a:ext>
            </a:extLst>
          </p:cNvPr>
          <p:cNvSpPr txBox="1"/>
          <p:nvPr/>
        </p:nvSpPr>
        <p:spPr>
          <a:xfrm>
            <a:off x="228006" y="358718"/>
            <a:ext cx="466926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7200" dirty="0">
                <a:highlight>
                  <a:srgbClr val="F7F5F3"/>
                </a:highlight>
                <a:latin typeface="Times New Roman"/>
                <a:cs typeface="Times New Roman"/>
              </a:rPr>
              <a:t>Quantum Computers</a:t>
            </a:r>
            <a:endParaRPr lang="en-US" sz="7200">
              <a:highlight>
                <a:srgbClr val="F7F5F3"/>
              </a:highlight>
              <a:latin typeface="Times New Roman"/>
              <a:ea typeface="Calibri" panose="020F050202020403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248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machine with many wires&#10;&#10;Description automatically generated">
            <a:extLst>
              <a:ext uri="{FF2B5EF4-FFF2-40B4-BE49-F238E27FC236}">
                <a16:creationId xmlns:a16="http://schemas.microsoft.com/office/drawing/2014/main" id="{8AE482AB-1FCD-0B1F-E922-B3EE276E6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2067" r="19896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8AED263-5067-F818-155A-BAA4DBE74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6317" cy="57952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9600" b="1" dirty="0">
                <a:ea typeface="Calibri Light"/>
                <a:cs typeface="Calibri Light"/>
              </a:rPr>
              <a:t>Basics :</a:t>
            </a:r>
            <a:br>
              <a:rPr lang="en-US" sz="4800" b="1" dirty="0">
                <a:ea typeface="Calibri Light" panose="020F0302020204030204"/>
                <a:cs typeface="Calibri Light" panose="020F0302020204030204"/>
              </a:rPr>
            </a:br>
            <a:r>
              <a:rPr lang="en-US" sz="4800" b="1" dirty="0">
                <a:ea typeface="Calibri Light" panose="020F0302020204030204"/>
                <a:cs typeface="Calibri Light" panose="020F0302020204030204"/>
              </a:rPr>
              <a:t>  0's and 1's : </a:t>
            </a:r>
            <a:br>
              <a:rPr lang="en-US" sz="4800" b="1" dirty="0">
                <a:ea typeface="Calibri Light" panose="020F0302020204030204"/>
                <a:cs typeface="Calibri Light" panose="020F0302020204030204"/>
              </a:rPr>
            </a:br>
            <a:r>
              <a:rPr lang="en-US" sz="4800" b="1" dirty="0">
                <a:ea typeface="Calibri Light" panose="020F0302020204030204"/>
                <a:cs typeface="Calibri Light" panose="020F0302020204030204"/>
              </a:rPr>
              <a:t>  Entanglement: </a:t>
            </a:r>
            <a:br>
              <a:rPr lang="en-US" sz="4800" b="1" dirty="0">
                <a:ea typeface="Calibri Light" panose="020F0302020204030204"/>
                <a:cs typeface="Calibri Light" panose="020F0302020204030204"/>
              </a:rPr>
            </a:br>
            <a:r>
              <a:rPr lang="en-US" sz="4800" b="1" dirty="0">
                <a:ea typeface="Calibri Light" panose="020F0302020204030204"/>
                <a:cs typeface="Calibri Light" panose="020F0302020204030204"/>
              </a:rPr>
              <a:t>  Interferences:</a:t>
            </a:r>
            <a:br>
              <a:rPr lang="en-US" sz="4800" b="1" dirty="0">
                <a:ea typeface="Calibri Light" panose="020F0302020204030204"/>
                <a:cs typeface="Calibri Light" panose="020F0302020204030204"/>
              </a:rPr>
            </a:br>
            <a:r>
              <a:rPr lang="en-US" sz="4800" b="1" dirty="0">
                <a:ea typeface="Calibri Light" panose="020F0302020204030204"/>
                <a:cs typeface="Calibri Light" panose="020F0302020204030204"/>
              </a:rPr>
              <a:t>  String Theory:</a:t>
            </a:r>
            <a:br>
              <a:rPr lang="en-US" sz="4800" b="1" dirty="0">
                <a:ea typeface="Calibri Light" panose="020F0302020204030204"/>
                <a:cs typeface="Calibri Light" panose="020F0302020204030204"/>
              </a:rPr>
            </a:br>
            <a:r>
              <a:rPr lang="en-US" sz="4800" b="1" dirty="0">
                <a:ea typeface="Calibri Light" panose="020F0302020204030204"/>
                <a:cs typeface="Calibri Light" panose="020F0302020204030204"/>
              </a:rPr>
              <a:t>  Probability:</a:t>
            </a:r>
            <a:br>
              <a:rPr lang="en-US" sz="2000" b="1" dirty="0">
                <a:ea typeface="Calibri Light" panose="020F0302020204030204"/>
                <a:cs typeface="Calibri Light" panose="020F0302020204030204"/>
              </a:rPr>
            </a:br>
            <a:r>
              <a:rPr lang="en-US" sz="2000" b="1" dirty="0">
                <a:ea typeface="Calibri Light" panose="020F0302020204030204"/>
                <a:cs typeface="Calibri Light" panose="020F0302020204030204"/>
              </a:rPr>
              <a:t>  </a:t>
            </a:r>
          </a:p>
        </p:txBody>
      </p:sp>
    </p:spTree>
    <p:extLst>
      <p:ext uri="{BB962C8B-B14F-4D97-AF65-F5344CB8AC3E}">
        <p14:creationId xmlns:p14="http://schemas.microsoft.com/office/powerpoint/2010/main" val="673689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627FF48C-AF46-4D52-998F-ED0BDDEEF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9000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D1637-3D53-3279-D6F8-CFD210453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9"/>
            <a:ext cx="5338194" cy="13228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Quantum amplitude: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252C9B-C266-F859-3D79-A365D5EB32E5}"/>
              </a:ext>
            </a:extLst>
          </p:cNvPr>
          <p:cNvSpPr txBox="1"/>
          <p:nvPr/>
        </p:nvSpPr>
        <p:spPr>
          <a:xfrm>
            <a:off x="1137034" y="2194101"/>
            <a:ext cx="4742771" cy="3983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ThePhoto by PhotoAuthor is licensed under CCYYSA.</a:t>
            </a:r>
          </a:p>
        </p:txBody>
      </p:sp>
      <p:pic>
        <p:nvPicPr>
          <p:cNvPr id="13" name="Picture 12" descr="Quantum Particles 1 Free Stock Photo - Public Domain Pictures">
            <a:extLst>
              <a:ext uri="{FF2B5EF4-FFF2-40B4-BE49-F238E27FC236}">
                <a16:creationId xmlns:a16="http://schemas.microsoft.com/office/drawing/2014/main" id="{F96B3E59-E427-777F-50A6-5DF2A5DFF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451" y="1275815"/>
            <a:ext cx="4717809" cy="4410646"/>
          </a:xfrm>
          <a:prstGeom prst="rect">
            <a:avLst/>
          </a:prstGeom>
        </p:spPr>
      </p:pic>
      <p:pic>
        <p:nvPicPr>
          <p:cNvPr id="9" name="Content Placeholder 8" descr="A diagram of a curve&#10;&#10;Description automatically generated">
            <a:extLst>
              <a:ext uri="{FF2B5EF4-FFF2-40B4-BE49-F238E27FC236}">
                <a16:creationId xmlns:a16="http://schemas.microsoft.com/office/drawing/2014/main" id="{1A01E34D-0EA1-9D80-653B-54CB6014A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98676" y="3040405"/>
            <a:ext cx="4508939" cy="314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767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88F442-8F57-F8A5-7C75-241EDEB87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Entanglement: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1E323-7743-1719-E5E9-535E03C9BE52}"/>
              </a:ext>
            </a:extLst>
          </p:cNvPr>
          <p:cNvSpPr txBox="1"/>
          <p:nvPr/>
        </p:nvSpPr>
        <p:spPr>
          <a:xfrm>
            <a:off x="1882588" y="1311818"/>
            <a:ext cx="8426823" cy="397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ThePhoto by PhotoAuthor is licensed under CCYYSA.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142315-B88A-F313-CEA3-BFEC4D81FF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147915" y="2354239"/>
            <a:ext cx="7896170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962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B7A7DD-3901-4629-FE86-2AF0DBAC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Entanglement Cont.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6AA6D-7E10-FC39-4A8D-176D3A113630}"/>
              </a:ext>
            </a:extLst>
          </p:cNvPr>
          <p:cNvSpPr txBox="1"/>
          <p:nvPr/>
        </p:nvSpPr>
        <p:spPr>
          <a:xfrm>
            <a:off x="1882588" y="1311818"/>
            <a:ext cx="8426823" cy="397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ThePhoto by PhotoAuthor is licensed under CCYYSA.</a:t>
            </a:r>
          </a:p>
        </p:txBody>
      </p:sp>
      <p:pic>
        <p:nvPicPr>
          <p:cNvPr id="4" name="Content Placeholder 3" descr="A glowing spheres with a light beam coming out of them&#10;&#10;Description automatically generated">
            <a:extLst>
              <a:ext uri="{FF2B5EF4-FFF2-40B4-BE49-F238E27FC236}">
                <a16:creationId xmlns:a16="http://schemas.microsoft.com/office/drawing/2014/main" id="{56BD589D-FBB0-2DE9-33A5-E0F55D2B4C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586591" y="2354239"/>
            <a:ext cx="7018817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837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80FF-1D53-0330-8C28-3A9BFD16C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Interference: </a:t>
            </a:r>
            <a:endParaRPr lang="en-US" dirty="0"/>
          </a:p>
        </p:txBody>
      </p:sp>
      <p:pic>
        <p:nvPicPr>
          <p:cNvPr id="4" name="Content Placeholder 3" descr="A black and white image of a black and white image of a black and white image of a black and white image of a black and white image of a black and white image of a black and&#10;&#10;Description automatically generated">
            <a:extLst>
              <a:ext uri="{FF2B5EF4-FFF2-40B4-BE49-F238E27FC236}">
                <a16:creationId xmlns:a16="http://schemas.microsoft.com/office/drawing/2014/main" id="{3A90CD00-0E8F-17D0-CA7F-3A08BA00B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73306" y="1890019"/>
            <a:ext cx="4957220" cy="435133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CFE003-EEC4-B856-F4B0-90B3F8950256}"/>
              </a:ext>
            </a:extLst>
          </p:cNvPr>
          <p:cNvSpPr txBox="1"/>
          <p:nvPr/>
        </p:nvSpPr>
        <p:spPr>
          <a:xfrm>
            <a:off x="773828" y="6241357"/>
            <a:ext cx="4956175" cy="317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758429-6E96-CE55-8A6A-78CAFB39D1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500793" y="1910605"/>
            <a:ext cx="4932244" cy="433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41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41FEC-A195-2CFF-9139-7364C26EC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String Theory: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9537FF-317C-75AD-6E37-95EE1B7D0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73" y="1133262"/>
            <a:ext cx="5598027" cy="39337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600"/>
              <a:t>ThePhoto by PhotoAuthor is licensed under CCYYSA.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34B581-EACE-E96E-FACD-B68683B25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24568" y="2401914"/>
            <a:ext cx="3365190" cy="336519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artoon of two stick figures&#10;&#10;Description automatically generated">
            <a:extLst>
              <a:ext uri="{FF2B5EF4-FFF2-40B4-BE49-F238E27FC236}">
                <a16:creationId xmlns:a16="http://schemas.microsoft.com/office/drawing/2014/main" id="{6CD94703-37D9-2916-884C-BFD100B26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099479" y="1912647"/>
            <a:ext cx="3810000" cy="36766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97AEF4-448B-99DE-4AFD-CE0631573373}"/>
              </a:ext>
            </a:extLst>
          </p:cNvPr>
          <p:cNvSpPr txBox="1"/>
          <p:nvPr/>
        </p:nvSpPr>
        <p:spPr>
          <a:xfrm>
            <a:off x="7099479" y="5589297"/>
            <a:ext cx="3810000" cy="317500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1528000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145188-0BDB-A207-7671-222DF0194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Probability: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D22FF-5B53-1CA2-57CF-4E103E349E3B}"/>
              </a:ext>
            </a:extLst>
          </p:cNvPr>
          <p:cNvSpPr txBox="1"/>
          <p:nvPr/>
        </p:nvSpPr>
        <p:spPr>
          <a:xfrm>
            <a:off x="497973" y="1133262"/>
            <a:ext cx="5598027" cy="393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/>
              <a:t>ThePhoto by PhotoAuthor is licensed under CCYYSA.</a:t>
            </a:r>
          </a:p>
        </p:txBody>
      </p:sp>
      <p:pic>
        <p:nvPicPr>
          <p:cNvPr id="7" name="Picture 6" descr="Royalty-free probability photos free download | Pxfuel">
            <a:extLst>
              <a:ext uri="{FF2B5EF4-FFF2-40B4-BE49-F238E27FC236}">
                <a16:creationId xmlns:a16="http://schemas.microsoft.com/office/drawing/2014/main" id="{9893961B-5499-71A8-9423-A33056B00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523744"/>
            <a:ext cx="4483510" cy="2992742"/>
          </a:xfrm>
          <a:prstGeom prst="rect">
            <a:avLst/>
          </a:prstGeom>
        </p:spPr>
      </p:pic>
      <p:pic>
        <p:nvPicPr>
          <p:cNvPr id="4" name="Content Placeholder 3" descr="A group of blue circles&#10;&#10;Description automatically generated">
            <a:extLst>
              <a:ext uri="{FF2B5EF4-FFF2-40B4-BE49-F238E27FC236}">
                <a16:creationId xmlns:a16="http://schemas.microsoft.com/office/drawing/2014/main" id="{8B43FAB1-3B19-6737-B16C-8F6280EA2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204156" y="2759128"/>
            <a:ext cx="4483510" cy="2521974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71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machine with many wires&#10;&#10;Description automatically generated">
            <a:extLst>
              <a:ext uri="{FF2B5EF4-FFF2-40B4-BE49-F238E27FC236}">
                <a16:creationId xmlns:a16="http://schemas.microsoft.com/office/drawing/2014/main" id="{8AE482AB-1FCD-0B1F-E922-B3EE276E6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2067" r="19896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8AED263-5067-F818-155A-BAA4DBE74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6317" cy="579520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8900" b="1" dirty="0">
                <a:ea typeface="Calibri Light"/>
                <a:cs typeface="Calibri Light"/>
              </a:rPr>
              <a:t>Arc:</a:t>
            </a:r>
            <a:br>
              <a:rPr lang="en-US" sz="8900" b="1" dirty="0">
                <a:ea typeface="Calibri Light"/>
                <a:cs typeface="Calibri Light"/>
              </a:rPr>
            </a:br>
            <a:r>
              <a:rPr lang="en-US" sz="5300" b="1" dirty="0">
                <a:ea typeface="Calibri Light"/>
                <a:cs typeface="Calibri Light"/>
              </a:rPr>
              <a:t> Circuit</a:t>
            </a:r>
            <a:br>
              <a:rPr lang="en-US" sz="5300" b="1" dirty="0">
                <a:ea typeface="Calibri Light"/>
                <a:cs typeface="Calibri Light"/>
              </a:rPr>
            </a:br>
            <a:r>
              <a:rPr lang="en-US" sz="5300" b="1" dirty="0">
                <a:ea typeface="Calibri Light"/>
                <a:cs typeface="Calibri Light"/>
              </a:rPr>
              <a:t> Gates</a:t>
            </a:r>
            <a:br>
              <a:rPr lang="en-US" sz="5300" b="1" dirty="0">
                <a:ea typeface="Calibri Light"/>
                <a:cs typeface="Calibri Light"/>
              </a:rPr>
            </a:br>
            <a:r>
              <a:rPr lang="en-US" sz="5300" b="1" dirty="0">
                <a:ea typeface="Calibri Light"/>
                <a:cs typeface="Calibri Light"/>
              </a:rPr>
              <a:t> Data transmission</a:t>
            </a:r>
            <a:br>
              <a:rPr lang="en-US" sz="5300" b="1" dirty="0">
                <a:ea typeface="Calibri Light"/>
                <a:cs typeface="Calibri Light"/>
              </a:rPr>
            </a:br>
            <a:r>
              <a:rPr lang="en-US" sz="5300" b="1" dirty="0">
                <a:ea typeface="Calibri Light"/>
                <a:cs typeface="Calibri Light"/>
              </a:rPr>
              <a:t> Data structure </a:t>
            </a:r>
            <a:br>
              <a:rPr lang="en-US" sz="5300" b="1" dirty="0">
                <a:ea typeface="Calibri Light"/>
                <a:cs typeface="Calibri Light"/>
              </a:rPr>
            </a:br>
            <a:r>
              <a:rPr lang="en-US" sz="5300" b="1" dirty="0">
                <a:ea typeface="Calibri Light"/>
                <a:cs typeface="Calibri Light"/>
              </a:rPr>
              <a:t> Network</a:t>
            </a:r>
            <a:br>
              <a:rPr lang="en-US" sz="1900" b="1" dirty="0">
                <a:ea typeface="Calibri Light"/>
                <a:cs typeface="Calibri Light"/>
              </a:rPr>
            </a:br>
            <a:r>
              <a:rPr lang="en-US" sz="1900" b="1" dirty="0">
                <a:ea typeface="Calibri Light"/>
                <a:cs typeface="Calibri Light"/>
              </a:rPr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603647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033DCFD-1ADF-3175-5DFC-B83BCB15F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61618"/>
            <a:ext cx="10905066" cy="4334763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F1CB21-5106-9E79-CF46-455191353CF8}"/>
              </a:ext>
            </a:extLst>
          </p:cNvPr>
          <p:cNvSpPr txBox="1"/>
          <p:nvPr/>
        </p:nvSpPr>
        <p:spPr>
          <a:xfrm>
            <a:off x="648367" y="354262"/>
            <a:ext cx="28474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dirty="0">
                <a:cs typeface="Calibri"/>
              </a:rPr>
              <a:t>Circuits:</a:t>
            </a:r>
            <a:endParaRPr lang="en-US" sz="440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63661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225DA-4B9B-1942-125F-623D1BA2C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cs typeface="Calibri Light"/>
              </a:rPr>
              <a:t>Data Transmission and Network: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B3B42D-2407-70BE-046B-FCEDC451C0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1975460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3365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BD9AB-F767-0ED0-2CAF-BD5975299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Data Structure: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4141D4-75F5-0098-402D-0EC018FE7E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8599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BB9E6F-E07B-2D13-2DF0-FBAA33E5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Data Structure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pic>
        <p:nvPicPr>
          <p:cNvPr id="4" name="Content Placeholder 3" descr="A diagram of a class&#10;&#10;Description automatically generated">
            <a:extLst>
              <a:ext uri="{FF2B5EF4-FFF2-40B4-BE49-F238E27FC236}">
                <a16:creationId xmlns:a16="http://schemas.microsoft.com/office/drawing/2014/main" id="{FC12F738-E43F-91F8-8FA8-FEC581095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719792"/>
            <a:ext cx="11327549" cy="294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09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4E048-8DBC-6FB9-893B-0B7752DF5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Network:</a:t>
            </a:r>
          </a:p>
        </p:txBody>
      </p:sp>
      <p:pic>
        <p:nvPicPr>
          <p:cNvPr id="4" name="Content Placeholder 3" descr="A diagram of a cloud computing system&#10;&#10;Description automatically generated">
            <a:extLst>
              <a:ext uri="{FF2B5EF4-FFF2-40B4-BE49-F238E27FC236}">
                <a16:creationId xmlns:a16="http://schemas.microsoft.com/office/drawing/2014/main" id="{E12F77F8-2D68-F7E0-4B92-A28045ACC7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154779"/>
            <a:ext cx="10905066" cy="343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962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A54A3-E988-2E62-275C-3DC494EF1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41" y="212725"/>
            <a:ext cx="5251316" cy="1807305"/>
          </a:xfrm>
        </p:spPr>
        <p:txBody>
          <a:bodyPr>
            <a:normAutofit/>
          </a:bodyPr>
          <a:lstStyle/>
          <a:p>
            <a:r>
              <a:rPr lang="en-US" b="1" dirty="0">
                <a:ea typeface="Calibri Light"/>
                <a:cs typeface="Calibri Light"/>
              </a:rPr>
              <a:t>Used by:</a:t>
            </a:r>
          </a:p>
          <a:p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6533F-025B-88F3-225C-ECCC4931C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1398577"/>
            <a:ext cx="5107301" cy="47783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b="1" dirty="0">
                <a:ea typeface="Calibri"/>
                <a:cs typeface="Calibri"/>
              </a:rPr>
              <a:t>JPMorgan</a:t>
            </a:r>
            <a:r>
              <a:rPr lang="en-US" sz="1900" dirty="0"/>
              <a:t>-</a:t>
            </a:r>
            <a:r>
              <a:rPr lang="en-US" sz="1900" dirty="0">
                <a:ea typeface="Calibri"/>
                <a:cs typeface="Calibri"/>
              </a:rPr>
              <a:t> Calculating various outcomes and risks that come with investing</a:t>
            </a:r>
          </a:p>
          <a:p>
            <a:r>
              <a:rPr lang="en-US" sz="1900" b="1" dirty="0">
                <a:ea typeface="Calibri"/>
                <a:cs typeface="Calibri"/>
              </a:rPr>
              <a:t>Microsoft</a:t>
            </a:r>
            <a:r>
              <a:rPr lang="en-US" sz="1900" dirty="0">
                <a:ea typeface="Calibri"/>
                <a:cs typeface="Calibri"/>
              </a:rPr>
              <a:t>- Trying to make fertilizer better but the computer produces so much greenhouse gas.</a:t>
            </a:r>
          </a:p>
          <a:p>
            <a:r>
              <a:rPr lang="en-US" sz="1900" b="1" dirty="0" err="1">
                <a:ea typeface="Calibri"/>
                <a:cs typeface="Calibri"/>
              </a:rPr>
              <a:t>Rigetti</a:t>
            </a:r>
            <a:r>
              <a:rPr lang="en-US" sz="1900" dirty="0">
                <a:ea typeface="Calibri"/>
                <a:cs typeface="Calibri"/>
              </a:rPr>
              <a:t> Computing- Predict better weather patterns</a:t>
            </a:r>
          </a:p>
          <a:p>
            <a:r>
              <a:rPr lang="en-US" sz="1900" b="1" dirty="0" err="1">
                <a:ea typeface="Calibri"/>
                <a:cs typeface="Calibri"/>
              </a:rPr>
              <a:t>ProteinQure</a:t>
            </a:r>
            <a:r>
              <a:rPr lang="en-US" sz="1900" dirty="0">
                <a:ea typeface="Calibri"/>
                <a:cs typeface="Calibri"/>
              </a:rPr>
              <a:t>- Molecular simulation of protein behavior. Checks how proteins are engineered for more targeted medicine</a:t>
            </a:r>
          </a:p>
          <a:p>
            <a:r>
              <a:rPr lang="en-US" sz="1900" b="1" dirty="0">
                <a:ea typeface="Calibri"/>
                <a:cs typeface="Calibri"/>
              </a:rPr>
              <a:t>Daimler</a:t>
            </a:r>
            <a:r>
              <a:rPr lang="en-US" sz="1900" dirty="0">
                <a:ea typeface="Calibri"/>
                <a:cs typeface="Calibri"/>
              </a:rPr>
              <a:t> </a:t>
            </a:r>
            <a:r>
              <a:rPr lang="en-US" sz="1900" b="1" dirty="0">
                <a:ea typeface="Calibri"/>
                <a:cs typeface="Calibri"/>
              </a:rPr>
              <a:t>Truck</a:t>
            </a:r>
            <a:r>
              <a:rPr lang="en-US" sz="1900" dirty="0">
                <a:ea typeface="Calibri"/>
                <a:cs typeface="Calibri"/>
              </a:rPr>
              <a:t> </a:t>
            </a:r>
            <a:r>
              <a:rPr lang="en-US" sz="1900" b="1" dirty="0">
                <a:ea typeface="Calibri"/>
                <a:cs typeface="Calibri"/>
              </a:rPr>
              <a:t>AG</a:t>
            </a:r>
            <a:r>
              <a:rPr lang="en-US" sz="1900" dirty="0">
                <a:ea typeface="Calibri"/>
                <a:cs typeface="Calibri"/>
              </a:rPr>
              <a:t>- Working on making car batteries for EV and more sustainable batteries.</a:t>
            </a:r>
          </a:p>
          <a:p>
            <a:r>
              <a:rPr lang="en-US" sz="1900" b="1" dirty="0" err="1">
                <a:ea typeface="Calibri"/>
                <a:cs typeface="Calibri"/>
              </a:rPr>
              <a:t>Infleqtion</a:t>
            </a:r>
            <a:r>
              <a:rPr lang="en-US" sz="1900" dirty="0">
                <a:ea typeface="Calibri"/>
                <a:cs typeface="Calibri"/>
              </a:rPr>
              <a:t>- Make error-corrected Qubits and Quantum Computers. By using laser-cooled atoms that can play the roles of qubits.</a:t>
            </a:r>
          </a:p>
          <a:p>
            <a:endParaRPr lang="en-US" sz="1900" dirty="0">
              <a:ea typeface="Calibri"/>
              <a:cs typeface="Calibri"/>
            </a:endParaRPr>
          </a:p>
          <a:p>
            <a:endParaRPr lang="en-US" sz="1900" dirty="0">
              <a:ea typeface="Calibri"/>
              <a:cs typeface="Calibri"/>
            </a:endParaRPr>
          </a:p>
          <a:p>
            <a:endParaRPr lang="en-US" sz="1900" dirty="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</p:txBody>
      </p:sp>
      <p:pic>
        <p:nvPicPr>
          <p:cNvPr id="5" name="Content Placeholder 3" descr="A machine with many wires&#10;&#10;Description automatically generated">
            <a:extLst>
              <a:ext uri="{FF2B5EF4-FFF2-40B4-BE49-F238E27FC236}">
                <a16:creationId xmlns:a16="http://schemas.microsoft.com/office/drawing/2014/main" id="{D6C4CD06-461D-8C65-9354-B4E0CE7AD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2067" r="19896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4778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machine with many wires&#10;&#10;Description automatically generated">
            <a:extLst>
              <a:ext uri="{FF2B5EF4-FFF2-40B4-BE49-F238E27FC236}">
                <a16:creationId xmlns:a16="http://schemas.microsoft.com/office/drawing/2014/main" id="{8AE482AB-1FCD-0B1F-E922-B3EE276E6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2067" r="19896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8AED263-5067-F818-155A-BAA4DBE74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00053" cy="83501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dirty="0">
                <a:ea typeface="Calibri Light"/>
                <a:cs typeface="Calibri Light"/>
              </a:rPr>
              <a:t>Used for (cont.):</a:t>
            </a:r>
            <a:br>
              <a:rPr lang="en-US" b="1" dirty="0">
                <a:ea typeface="Calibri Light"/>
                <a:cs typeface="Calibri Light"/>
              </a:rPr>
            </a:br>
            <a:r>
              <a:rPr lang="en-US" b="1" dirty="0">
                <a:ea typeface="Calibri Light"/>
                <a:cs typeface="Calibri Light"/>
              </a:rPr>
              <a:t>  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1957A4-AF1E-228B-643F-E2646D073048}"/>
              </a:ext>
            </a:extLst>
          </p:cNvPr>
          <p:cNvSpPr txBox="1"/>
          <p:nvPr/>
        </p:nvSpPr>
        <p:spPr>
          <a:xfrm>
            <a:off x="708322" y="1416643"/>
            <a:ext cx="4869713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cs typeface="Calibri" panose="020F0502020204030204"/>
              </a:rPr>
              <a:t>Batteries</a:t>
            </a:r>
            <a:r>
              <a:rPr lang="en-US" dirty="0">
                <a:cs typeface="Calibri" panose="020F0502020204030204"/>
              </a:rPr>
              <a:t>- Can help look into how we can make batteries last longer and increase the efficiency by understanding the docking energies.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cs typeface="Calibri" panose="020F0502020204030204"/>
              </a:rPr>
              <a:t>Manufacturing</a:t>
            </a:r>
            <a:r>
              <a:rPr lang="en-US" dirty="0">
                <a:cs typeface="Calibri" panose="020F0502020204030204"/>
              </a:rPr>
              <a:t>/</a:t>
            </a:r>
            <a:r>
              <a:rPr lang="en-US" b="1" dirty="0"/>
              <a:t>Testing</a:t>
            </a:r>
            <a:r>
              <a:rPr lang="en-US" dirty="0">
                <a:cs typeface="Calibri" panose="020F0502020204030204"/>
              </a:rPr>
              <a:t>- Making test models more accurate to where they require less testing.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cs typeface="Calibri" panose="020F0502020204030204"/>
              </a:rPr>
              <a:t>Traffic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b="1" dirty="0">
                <a:cs typeface="Calibri" panose="020F0502020204030204"/>
              </a:rPr>
              <a:t>Optimization</a:t>
            </a:r>
            <a:r>
              <a:rPr lang="en-US" dirty="0">
                <a:cs typeface="Calibri" panose="020F0502020204030204"/>
              </a:rPr>
              <a:t>- Can use weather and real time traffic patterns/alerts to find better and faster routes to help with the flow of the supply chain, logistics and transportation.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cs typeface="Calibri" panose="020F0502020204030204"/>
              </a:rPr>
              <a:t>AI/ML- </a:t>
            </a:r>
            <a:r>
              <a:rPr lang="en-US" dirty="0">
                <a:cs typeface="Calibri" panose="020F0502020204030204"/>
              </a:rPr>
              <a:t>Can help implement AI/ML into applications at a much larger scale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 b="1" dirty="0">
                <a:cs typeface="Calibri" panose="020F0502020204030204"/>
              </a:rPr>
              <a:t>Material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b="1" dirty="0">
                <a:cs typeface="Calibri" panose="020F0502020204030204"/>
              </a:rPr>
              <a:t>Science</a:t>
            </a:r>
            <a:r>
              <a:rPr lang="en-US" dirty="0">
                <a:cs typeface="Calibri" panose="020F0502020204030204"/>
              </a:rPr>
              <a:t>- Can be used to stimulate the strength of various materials which helps cut down on costs and time by </a:t>
            </a:r>
            <a:r>
              <a:rPr lang="en-US">
                <a:cs typeface="Calibri" panose="020F0502020204030204"/>
              </a:rPr>
              <a:t>pretesting</a:t>
            </a:r>
            <a:r>
              <a:rPr lang="en-US" dirty="0">
                <a:cs typeface="Calibri" panose="020F0502020204030204"/>
              </a:rPr>
              <a:t> the materials durability before using it.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1794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machine with many wires&#10;&#10;Description automatically generated">
            <a:extLst>
              <a:ext uri="{FF2B5EF4-FFF2-40B4-BE49-F238E27FC236}">
                <a16:creationId xmlns:a16="http://schemas.microsoft.com/office/drawing/2014/main" id="{8AE482AB-1FCD-0B1F-E922-B3EE276E6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2067" r="19896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8AED263-5067-F818-155A-BAA4DBE74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240" y="361362"/>
            <a:ext cx="5386317" cy="7057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900" b="1" dirty="0">
                <a:ea typeface="Calibri Light"/>
                <a:cs typeface="Calibri Light"/>
              </a:rPr>
              <a:t>Limitations:</a:t>
            </a:r>
            <a:br>
              <a:rPr lang="en-US" sz="4900" b="1" dirty="0">
                <a:ea typeface="Calibri Light"/>
                <a:cs typeface="Calibri Light"/>
              </a:rPr>
            </a:br>
            <a:br>
              <a:rPr lang="en-US" sz="4900" b="1" dirty="0">
                <a:ea typeface="Calibri Light"/>
                <a:cs typeface="Calibri Light"/>
              </a:rPr>
            </a:br>
            <a:r>
              <a:rPr lang="en-US" sz="4900" b="1" dirty="0">
                <a:ea typeface="Calibri Light"/>
                <a:cs typeface="Calibri Light"/>
              </a:rPr>
              <a:t>  </a:t>
            </a:r>
            <a:endParaRPr lang="en-US" sz="4900" dirty="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4CB9EC-AC80-9776-30C8-5BA5F0AD718D}"/>
              </a:ext>
            </a:extLst>
          </p:cNvPr>
          <p:cNvSpPr txBox="1"/>
          <p:nvPr/>
        </p:nvSpPr>
        <p:spPr>
          <a:xfrm>
            <a:off x="834907" y="1409700"/>
            <a:ext cx="5267679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ea typeface="Calibri" panose="020F0502020204030204"/>
                <a:cs typeface="Calibri" panose="020F0502020204030204"/>
              </a:rPr>
              <a:t>Super expensive to afford so only big companies can afford them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Calibri" panose="020F0502020204030204"/>
                <a:cs typeface="Calibri" panose="020F0502020204030204"/>
              </a:rPr>
              <a:t>They are VERY sensitive to their environments like heat, vibration etc.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Calibri" panose="020F0502020204030204"/>
                <a:cs typeface="Calibri" panose="020F0502020204030204"/>
              </a:rPr>
              <a:t>Difficult to calibrate because of the </a:t>
            </a:r>
            <a:r>
              <a:rPr lang="en-US" sz="2000" dirty="0">
                <a:ea typeface="+mn-lt"/>
                <a:cs typeface="+mn-lt"/>
              </a:rPr>
              <a:t>infinite 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number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of qubits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Calibri" panose="020F0502020204030204"/>
                <a:cs typeface="Calibri" panose="020F0502020204030204"/>
              </a:rPr>
              <a:t>Data can be corrupted due to buildup off errors, imperfected software's/hardware, and the qubits interacting with their environment.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Calibri" panose="020F0502020204030204"/>
                <a:cs typeface="Calibri" panose="020F0502020204030204"/>
              </a:rPr>
              <a:t>Don’t have the best software's to handle what we need them to do and requires very specific knowledge of quantum programming and mechanics.</a:t>
            </a:r>
          </a:p>
        </p:txBody>
      </p:sp>
    </p:spTree>
    <p:extLst>
      <p:ext uri="{BB962C8B-B14F-4D97-AF65-F5344CB8AC3E}">
        <p14:creationId xmlns:p14="http://schemas.microsoft.com/office/powerpoint/2010/main" val="1586366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354F2-CABB-D852-9BB1-EAD18951A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Reference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85829-C17F-2FF7-0974-1793A7492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https://www.sdxcentral.com/security/quantum/definitions/what-is-quantum-computing-its-architecture-advantages-and-disadvantages/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3"/>
              </a:rPr>
              <a:t>https://new.nsf.gov/news/self-correcting-quantum-computers-within-reach#:~:text=Running%20a%20complicated%20algorithm%20on,errors%20renders%20the%20algorithm%20useless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  <a:hlinkClick r:id="rId4"/>
              </a:rPr>
              <a:t>https://builtin.com/hardware/quantum-computing-applications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5"/>
              </a:rPr>
              <a:t>https://www.techtarget.com/searchdatacenter/tip/Explore-future-potential-quantum-computing-uses</a:t>
            </a:r>
            <a:endParaRPr lang="en-US" dirty="0">
              <a:ea typeface="+mn-lt"/>
              <a:cs typeface="Calibri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2595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354F2-CABB-D852-9BB1-EAD18951A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Reference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85829-C17F-2FF7-0974-1793A7492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ea typeface="+mn-lt"/>
                <a:cs typeface="+mn-lt"/>
              </a:rPr>
              <a:t>Sauceda, </a:t>
            </a:r>
            <a:r>
              <a:rPr lang="en-US" sz="1600" dirty="0" err="1">
                <a:ea typeface="+mn-lt"/>
                <a:cs typeface="+mn-lt"/>
              </a:rPr>
              <a:t>Huziel</a:t>
            </a:r>
            <a:r>
              <a:rPr lang="en-US" sz="1600" dirty="0">
                <a:ea typeface="+mn-lt"/>
                <a:cs typeface="+mn-lt"/>
              </a:rPr>
              <a:t> E., et al. “BIGDML—Towards Accurate Quantum Machine Learning Force Fields for Materials.” </a:t>
            </a:r>
            <a:r>
              <a:rPr lang="en-US" sz="1600" i="1" dirty="0">
                <a:ea typeface="+mn-lt"/>
                <a:cs typeface="+mn-lt"/>
              </a:rPr>
              <a:t>Nature Communications</a:t>
            </a:r>
            <a:r>
              <a:rPr lang="en-US" sz="1600" dirty="0">
                <a:ea typeface="+mn-lt"/>
                <a:cs typeface="+mn-lt"/>
              </a:rPr>
              <a:t>, vol. 13, no. 1, 2022, pp. 3733–3733, </a:t>
            </a:r>
            <a:r>
              <a:rPr lang="en-US" sz="1600" dirty="0">
                <a:ea typeface="+mn-lt"/>
                <a:cs typeface="+mn-lt"/>
                <a:hlinkClick r:id="rId2"/>
              </a:rPr>
              <a:t>https://doi.org/10.1038/s41467-022-31093-x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ea typeface="+mn-lt"/>
                <a:cs typeface="+mn-lt"/>
              </a:rPr>
              <a:t>Lloyd, Seth. </a:t>
            </a:r>
            <a:r>
              <a:rPr lang="en-US" sz="1600" i="1" dirty="0">
                <a:ea typeface="+mn-lt"/>
                <a:cs typeface="+mn-lt"/>
              </a:rPr>
              <a:t>Programming the Universe : A Quantum Computer Scientist Takes on the Cosmos</a:t>
            </a:r>
            <a:r>
              <a:rPr lang="en-US" sz="1600" dirty="0">
                <a:ea typeface="+mn-lt"/>
                <a:cs typeface="+mn-lt"/>
              </a:rPr>
              <a:t>. 1st ed., Knopf, 2006.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ea typeface="+mn-lt"/>
                <a:cs typeface="+mn-lt"/>
              </a:rPr>
              <a:t>Sim, Sukin, et al. “</a:t>
            </a:r>
            <a:r>
              <a:rPr lang="en-US" sz="1600" dirty="0" err="1">
                <a:ea typeface="+mn-lt"/>
                <a:cs typeface="+mn-lt"/>
              </a:rPr>
              <a:t>Expressibility</a:t>
            </a:r>
            <a:r>
              <a:rPr lang="en-US" sz="1600" dirty="0">
                <a:ea typeface="+mn-lt"/>
                <a:cs typeface="+mn-lt"/>
              </a:rPr>
              <a:t> and Entangling Capability of Parameterized Quantum Circuits for Hybrid Quantum‐Classical Algorithms.” </a:t>
            </a:r>
            <a:r>
              <a:rPr lang="en-US" sz="1600" i="1" dirty="0">
                <a:ea typeface="+mn-lt"/>
                <a:cs typeface="+mn-lt"/>
              </a:rPr>
              <a:t>Advanced Quantum Technologies (Online)</a:t>
            </a:r>
            <a:r>
              <a:rPr lang="en-US" sz="1600" dirty="0">
                <a:ea typeface="+mn-lt"/>
                <a:cs typeface="+mn-lt"/>
              </a:rPr>
              <a:t>, vol. 2, no. 12, 2019, </a:t>
            </a:r>
            <a:r>
              <a:rPr lang="en-US" sz="1600" dirty="0">
                <a:ea typeface="+mn-lt"/>
                <a:cs typeface="+mn-lt"/>
                <a:hlinkClick r:id="rId3"/>
              </a:rPr>
              <a:t>https://doi.org/10.1002/qute.201900070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ea typeface="+mn-lt"/>
                <a:cs typeface="+mn-lt"/>
              </a:rPr>
              <a:t>“‘Spooky’ Quantum-Entanglement Experiments Win Physics Nobel.” </a:t>
            </a:r>
            <a:r>
              <a:rPr lang="en-US" sz="1600" i="1" dirty="0">
                <a:ea typeface="+mn-lt"/>
                <a:cs typeface="+mn-lt"/>
              </a:rPr>
              <a:t>Nature</a:t>
            </a:r>
            <a:r>
              <a:rPr lang="en-US" sz="1600" dirty="0">
                <a:ea typeface="+mn-lt"/>
                <a:cs typeface="+mn-lt"/>
              </a:rPr>
              <a:t>, 2022, </a:t>
            </a:r>
            <a:r>
              <a:rPr lang="en-US" sz="1600" dirty="0">
                <a:ea typeface="+mn-lt"/>
                <a:cs typeface="+mn-lt"/>
                <a:hlinkClick r:id="rId4"/>
              </a:rPr>
              <a:t>https://doi.org/10.1038/d41586-022-03088-7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ea typeface="+mn-lt"/>
                <a:cs typeface="+mn-lt"/>
              </a:rPr>
              <a:t>Liu, Hao, et al. “First Tree-like Quantum Data Structure: Quantum B+ Tree.” </a:t>
            </a:r>
            <a:r>
              <a:rPr lang="en-US" sz="1600" i="1" dirty="0" err="1">
                <a:ea typeface="+mn-lt"/>
                <a:cs typeface="+mn-lt"/>
              </a:rPr>
              <a:t>arXiv</a:t>
            </a:r>
            <a:r>
              <a:rPr lang="en-US" sz="1600" i="1" dirty="0">
                <a:ea typeface="+mn-lt"/>
                <a:cs typeface="+mn-lt"/>
              </a:rPr>
              <a:t> (Cornell University)</a:t>
            </a:r>
            <a:r>
              <a:rPr lang="en-US" sz="1600" dirty="0">
                <a:ea typeface="+mn-lt"/>
                <a:cs typeface="+mn-lt"/>
              </a:rPr>
              <a:t>, 2024, </a:t>
            </a:r>
            <a:r>
              <a:rPr lang="en-US" sz="1600" dirty="0">
                <a:ea typeface="+mn-lt"/>
                <a:cs typeface="+mn-lt"/>
                <a:hlinkClick r:id="rId5"/>
              </a:rPr>
              <a:t>https://doi.org/10.48550/arxiv.2405.20416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ea typeface="+mn-lt"/>
                <a:cs typeface="+mn-lt"/>
              </a:rPr>
              <a:t>Luo Y, Cheng X, Mao H-K, Li Q. An Overview of Postprocessing in Quantum Key Distribution. </a:t>
            </a:r>
            <a:r>
              <a:rPr lang="en-US" sz="1600" i="1" dirty="0">
                <a:solidFill>
                  <a:srgbClr val="222222"/>
                </a:solidFill>
                <a:ea typeface="+mn-lt"/>
                <a:cs typeface="+mn-lt"/>
              </a:rPr>
              <a:t>Mathematics</a:t>
            </a:r>
            <a:r>
              <a:rPr lang="en-US" sz="1600" dirty="0">
                <a:solidFill>
                  <a:srgbClr val="222222"/>
                </a:solidFill>
                <a:ea typeface="+mn-lt"/>
                <a:cs typeface="+mn-lt"/>
              </a:rPr>
              <a:t>. 2024; 12(14):2243. </a:t>
            </a:r>
            <a:r>
              <a:rPr lang="en-US" sz="1600" dirty="0">
                <a:solidFill>
                  <a:srgbClr val="222222"/>
                </a:solidFill>
                <a:ea typeface="+mn-lt"/>
                <a:cs typeface="+mn-lt"/>
                <a:hlinkClick r:id="rId6"/>
              </a:rPr>
              <a:t>https://doi.org/10.3390/math12142243</a:t>
            </a:r>
            <a:r>
              <a:rPr lang="en-US" sz="1600" dirty="0">
                <a:solidFill>
                  <a:srgbClr val="222222"/>
                </a:solidFill>
                <a:ea typeface="+mn-lt"/>
                <a:cs typeface="+mn-lt"/>
              </a:rPr>
              <a:t>. 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ea typeface="+mn-lt"/>
                <a:cs typeface="+mn-lt"/>
                <a:hlinkClick r:id="rId7"/>
              </a:rPr>
              <a:t>https://quantumxc.com/blog/what-are-quantum-networks-and-how-do-they-work/</a:t>
            </a:r>
            <a:endParaRPr lang="en-US" sz="16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5735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The Photo by Photo Author is licensed under CCYYSA.</vt:lpstr>
      <vt:lpstr>Basics :   0's and 1's :    Entanglement:    Interferences:   String Theory:   Probability:   </vt:lpstr>
      <vt:lpstr>Quantum amplitude:</vt:lpstr>
      <vt:lpstr>Entanglement:</vt:lpstr>
      <vt:lpstr>Entanglement Cont.</vt:lpstr>
      <vt:lpstr>Interference: </vt:lpstr>
      <vt:lpstr>String Theory:</vt:lpstr>
      <vt:lpstr>Probability:</vt:lpstr>
      <vt:lpstr>Arc:  Circuit  Gates  Data transmission  Data structure   Network  </vt:lpstr>
      <vt:lpstr>PowerPoint Presentation</vt:lpstr>
      <vt:lpstr>Data Transmission and Network:</vt:lpstr>
      <vt:lpstr>Data Structure:</vt:lpstr>
      <vt:lpstr>Data Structure:</vt:lpstr>
      <vt:lpstr>Network:</vt:lpstr>
      <vt:lpstr>Used by: </vt:lpstr>
      <vt:lpstr>Used for (cont.):   </vt:lpstr>
      <vt:lpstr>Limitations:    </vt:lpstr>
      <vt:lpstr>Reference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Mulloy</dc:creator>
  <cp:lastModifiedBy>Thomas Mulloy</cp:lastModifiedBy>
  <cp:revision>641</cp:revision>
  <dcterms:created xsi:type="dcterms:W3CDTF">2016-06-29T17:12:42Z</dcterms:created>
  <dcterms:modified xsi:type="dcterms:W3CDTF">2024-09-27T00:41:47Z</dcterms:modified>
</cp:coreProperties>
</file>