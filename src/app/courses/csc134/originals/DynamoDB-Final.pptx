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Anton"/>
      <p:regular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Anton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amazon.science/latest-news/amazons-dynamodb-10-years-later" TargetMode="External"/><Relationship Id="rId3" Type="http://schemas.openxmlformats.org/officeDocument/2006/relationships/hyperlink" Target="https://docs.aws.amazon.com/amazondynamodb/latest/developerguide/Introduction.html#ddb-use-cases" TargetMode="Externa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scylladb.com/learn/dynamodb/introduction-to-dynamodb/alternatives/#:~:text=DynamoDB%20isn't%20open%2Dsource,be%20self%2Dhosted%20as%20alternatives" TargetMode="Externa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aws.amazon.com/whitepapers/latest/big-data-analytics-options/amazon-dynamodb.html" TargetMode="Externa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aws.amazon.com/amazondynamodb/latest/developerguide/SQLtoNoSQL.WhyDynamoDB.html#:~:text=You%20can%20use%20the%20AWS,and%20delete%20data%20in%20DynamoDB" TargetMode="Externa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aws.amazon.com/amazondynamodb/latest/developerguide/EncryptionAtRest.html" TargetMode="External"/><Relationship Id="rId3" Type="http://schemas.openxmlformats.org/officeDocument/2006/relationships/hyperlink" Target="https://docs.aws.amazon.com/amazondynamodb/latest/developerguide/security-iam.html#security_iam_authentication" TargetMode="Externa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aws.amazon.com/nosql/key-value/" TargetMode="External"/><Relationship Id="rId3" Type="http://schemas.openxmlformats.org/officeDocument/2006/relationships/hyperlink" Target="https://aws.amazon.com/nosql/document/" TargetMode="Externa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aws.amazon.com/blogs/opensource/announcing-partiql-one-query-language-for-all-your-data/" TargetMode="External"/><Relationship Id="rId3" Type="http://schemas.openxmlformats.org/officeDocument/2006/relationships/hyperlink" Target="https://docs.aws.amazon.com/amazondynamodb/latest/developerguide/WorkingWithTables.html" TargetMode="External"/><Relationship Id="rId4" Type="http://schemas.openxmlformats.org/officeDocument/2006/relationships/hyperlink" Target="https://docs.aws.amazon.com/amazondynamodb/latest/developerguide/SQLtoNoSQL.ReadData.Query.html" TargetMode="Externa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aws.amazon.com/amazondynamodb/latest/developerguide/Expressions.UpdateExpressions.html" TargetMode="Externa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aws.amazon.com/amazondynamodb/latest/developerguide/Introduction.html" TargetMode="Externa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aws.amazon.com/dynamodb/customers/?pg=dynamodb&amp;sec=cs#Zoom" TargetMode="Externa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matthewbonig.com/posts/dynamodb-pros-cons/" TargetMode="Externa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16053fbe9c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16053fbe9c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https://www.amazon.science/latest-news/amazons-dynamodb-10-years-later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https://docs.aws.amazon.com/amazondynamodb/latest/developerguide/Introduction.html#ddb-use-cases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1abaca4cae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1abaca4cae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https://www.scylladb.com/learn/dynamodb/introduction-to-dynamodb/alternatives/#:~:text=DynamoDB%20isn't%20open%2Dsource,be%20self%2Dhosted%20as%20alternatives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16053fbe9c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16053fbe9c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https://docs.aws.amazon.com/whitepapers/latest/big-data-analytics-options/amazon-dynamodb.html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1abaca4cae_1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1abaca4cae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16053fbe9c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16053fbe9c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Serverless and Fully Managed Architecture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DynamoDB automatically manages provisioning, scaling, patching, and maintenance of the database infrastructure, unlike traditional databases that require manual management.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Global Tables for Multi-Region Replication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DynamoDB provides multi-active, multi-region replication, enabling globally distributed applications with extremely low latency.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Built-In Scalability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DynamoDB can scale effortlessly to handle any level of request traffic with on-demand capacity mode(best for unpredictable traffic patterns) or optimize costs with provisioned capacity mode(best for steady traffic patterns).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DynamoDB Accelerator (DAX) for In-Memory Caching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Provides a fully managed in-memory cache that provides a microsecond response time for read-intensive work.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https://docs.aws.amazon.com/amazondynamodb/latest/developerguide/SQLtoNoSQL.WhyDynamoDB.html#:~:text=You%20can%20use%20the%20AWS,and%20delete%20data%20in%20DynamoDB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1abaca4cae_1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1abaca4cae_1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https://docs.aws.amazon.com/amazondynamodb/latest/developerguide/EncryptionAtRest.html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https://docs.aws.amazon.com/amazondynamodb/latest/developerguide/security-iam.html#security_iam_authentication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16053fbe9c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16053fbe9c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https://aws.amazon.com/nosql/key-value/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https://aws.amazon.com/nosql/document/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16053fbe9c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16053fbe9c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Explain the query language used (e.g., SQL for MySQL).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Provide examples of basic queries (SELECT, INSERT, UPDATE, DELETE).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Optional (extra credit): highlight any advanced querying techniques or optimizations (e.g., indexing, join types).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https://aws.amazon.com/blogs/opensource/announcing-partiql-one-query-language-for-all-your-data/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https://docs.aws.amazon.com/amazondynamodb/latest/developerguide/WorkingWithTables.html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https://docs.aws.amazon.com/amazondynamodb/latest/developerguide/SQLtoNoSQL.ReadData.Query.html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16a37b7499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16a37b749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Explain the query language used (e.g., SQL for MySQL).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Provide examples of basic queries (SELECT, INSERT, UPDATE, DELETE).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Optional (extra credit): highlight any advanced querying techniques or optimizations (e.g., indexing, join types).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1af268b8db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1af268b8db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Explain the query language used (e.g., SQL for MySQL).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Provide examples of basic queries (SELECT, INSERT, UPDATE, DELETE).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Optional (extra credit): highlight any advanced querying techniques or optimizations (e.g., indexing, join types).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1af268b8db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1af268b8db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Explain the query language used (e.g., SQL for MySQL).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Provide examples of basic queries (SELECT, INSERT, UPDATE, DELETE).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Optional (extra credit): highlight any advanced querying techniques or optimizations (e.g., indexing, join types).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https://docs.aws.amazon.com/amazondynamodb/latest/developerguide/Expressions.UpdateExpressions.html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16053fbe9c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16053fbe9c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https://docs.aws.amazon.com/amazondynamodb/latest/developerguide/Introduction.html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16053fbe9c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16053fbe9c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https://aws.amazon.com/dynamodb/customers/?pg=dynamodb&amp;sec=cs#Zoom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1abaca4cae_1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1abaca4cae_1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16053fbe9c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16053fbe9c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https://matthewbonig.com/posts/dynamodb-pros-cons/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16053fbe9c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16053fbe9c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3"/>
          <p:cNvGrpSpPr/>
          <p:nvPr/>
        </p:nvGrpSpPr>
        <p:grpSpPr>
          <a:xfrm>
            <a:off x="411310" y="205958"/>
            <a:ext cx="5351316" cy="569092"/>
            <a:chOff x="0" y="-241102"/>
            <a:chExt cx="14270175" cy="1517579"/>
          </a:xfrm>
        </p:grpSpPr>
        <p:sp>
          <p:nvSpPr>
            <p:cNvPr id="11" name="Google Shape;11;p3"/>
            <p:cNvSpPr txBox="1"/>
            <p:nvPr/>
          </p:nvSpPr>
          <p:spPr>
            <a:xfrm>
              <a:off x="957054" y="192877"/>
              <a:ext cx="13312500" cy="108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998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200" u="none" cap="none" strike="noStrike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DATE/DAY                                      ABOUT US                                                CONTACT US</a:t>
              </a:r>
              <a:endParaRPr sz="700"/>
            </a:p>
          </p:txBody>
        </p:sp>
        <p:grpSp>
          <p:nvGrpSpPr>
            <p:cNvPr id="12" name="Google Shape;12;p3"/>
            <p:cNvGrpSpPr/>
            <p:nvPr/>
          </p:nvGrpSpPr>
          <p:grpSpPr>
            <a:xfrm>
              <a:off x="0" y="-241102"/>
              <a:ext cx="14270175" cy="1151516"/>
              <a:chOff x="0" y="-47625"/>
              <a:chExt cx="2818800" cy="227460"/>
            </a:xfrm>
          </p:grpSpPr>
          <p:sp>
            <p:nvSpPr>
              <p:cNvPr id="13" name="Google Shape;13;p3"/>
              <p:cNvSpPr/>
              <p:nvPr/>
            </p:nvSpPr>
            <p:spPr>
              <a:xfrm>
                <a:off x="0" y="0"/>
                <a:ext cx="2818670" cy="179835"/>
              </a:xfrm>
              <a:custGeom>
                <a:rect b="b" l="l" r="r" t="t"/>
                <a:pathLst>
                  <a:path extrusionOk="0" h="179835" w="2818670">
                    <a:moveTo>
                      <a:pt x="36893" y="0"/>
                    </a:moveTo>
                    <a:lnTo>
                      <a:pt x="2781777" y="0"/>
                    </a:lnTo>
                    <a:cubicBezTo>
                      <a:pt x="2802152" y="0"/>
                      <a:pt x="2818670" y="16518"/>
                      <a:pt x="2818670" y="36893"/>
                    </a:cubicBezTo>
                    <a:lnTo>
                      <a:pt x="2818670" y="142941"/>
                    </a:lnTo>
                    <a:cubicBezTo>
                      <a:pt x="2818670" y="163317"/>
                      <a:pt x="2802152" y="179835"/>
                      <a:pt x="2781777" y="179835"/>
                    </a:cubicBezTo>
                    <a:lnTo>
                      <a:pt x="36893" y="179835"/>
                    </a:lnTo>
                    <a:cubicBezTo>
                      <a:pt x="16518" y="179835"/>
                      <a:pt x="0" y="163317"/>
                      <a:pt x="0" y="142941"/>
                    </a:cubicBezTo>
                    <a:lnTo>
                      <a:pt x="0" y="36893"/>
                    </a:lnTo>
                    <a:cubicBezTo>
                      <a:pt x="0" y="16518"/>
                      <a:pt x="16518" y="0"/>
                      <a:pt x="36893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F24A2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" name="Google Shape;14;p3"/>
              <p:cNvSpPr txBox="1"/>
              <p:nvPr/>
            </p:nvSpPr>
            <p:spPr>
              <a:xfrm>
                <a:off x="0" y="-47625"/>
                <a:ext cx="2818800" cy="22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" name="Google Shape;15;p3"/>
            <p:cNvGrpSpPr/>
            <p:nvPr/>
          </p:nvGrpSpPr>
          <p:grpSpPr>
            <a:xfrm>
              <a:off x="477480" y="340959"/>
              <a:ext cx="228478" cy="228478"/>
              <a:chOff x="0" y="0"/>
              <a:chExt cx="812800" cy="812800"/>
            </a:xfrm>
          </p:grpSpPr>
          <p:sp>
            <p:nvSpPr>
              <p:cNvPr id="16" name="Google Shape;16;p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24A2D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3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" name="Google Shape;18;p3"/>
            <p:cNvGrpSpPr/>
            <p:nvPr/>
          </p:nvGrpSpPr>
          <p:grpSpPr>
            <a:xfrm>
              <a:off x="5531725" y="340959"/>
              <a:ext cx="228478" cy="228478"/>
              <a:chOff x="0" y="0"/>
              <a:chExt cx="812800" cy="812800"/>
            </a:xfrm>
          </p:grpSpPr>
          <p:sp>
            <p:nvSpPr>
              <p:cNvPr id="19" name="Google Shape;19;p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24A2D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3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" name="Google Shape;21;p3"/>
            <p:cNvGrpSpPr/>
            <p:nvPr/>
          </p:nvGrpSpPr>
          <p:grpSpPr>
            <a:xfrm>
              <a:off x="11528518" y="340959"/>
              <a:ext cx="228478" cy="228478"/>
              <a:chOff x="0" y="0"/>
              <a:chExt cx="812800" cy="812800"/>
            </a:xfrm>
          </p:grpSpPr>
          <p:sp>
            <p:nvSpPr>
              <p:cNvPr id="22" name="Google Shape;22;p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24A2D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" name="Google Shape;23;p3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4" name="Google Shape;24;p3"/>
          <p:cNvGrpSpPr/>
          <p:nvPr/>
        </p:nvGrpSpPr>
        <p:grpSpPr>
          <a:xfrm>
            <a:off x="7224244" y="1111695"/>
            <a:ext cx="1405412" cy="1405412"/>
            <a:chOff x="0" y="0"/>
            <a:chExt cx="812800" cy="812800"/>
          </a:xfrm>
        </p:grpSpPr>
        <p:sp>
          <p:nvSpPr>
            <p:cNvPr id="25" name="Google Shape;25;p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24A2D"/>
            </a:solidFill>
            <a:ln>
              <a:noFill/>
            </a:ln>
          </p:spPr>
        </p:sp>
        <p:sp>
          <p:nvSpPr>
            <p:cNvPr id="26" name="Google Shape;26;p3"/>
            <p:cNvSpPr txBox="1"/>
            <p:nvPr/>
          </p:nvSpPr>
          <p:spPr>
            <a:xfrm>
              <a:off x="127000" y="79375"/>
              <a:ext cx="558900" cy="60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" name="Google Shape;27;p3"/>
          <p:cNvGrpSpPr/>
          <p:nvPr/>
        </p:nvGrpSpPr>
        <p:grpSpPr>
          <a:xfrm>
            <a:off x="5867297" y="4486701"/>
            <a:ext cx="1405412" cy="1405412"/>
            <a:chOff x="0" y="0"/>
            <a:chExt cx="812800" cy="812800"/>
          </a:xfrm>
        </p:grpSpPr>
        <p:sp>
          <p:nvSpPr>
            <p:cNvPr id="28" name="Google Shape;28;p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F24A2D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9" name="Google Shape;29;p3"/>
            <p:cNvSpPr txBox="1"/>
            <p:nvPr/>
          </p:nvSpPr>
          <p:spPr>
            <a:xfrm>
              <a:off x="127000" y="79375"/>
              <a:ext cx="558900" cy="60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" name="Google Shape;30;p3"/>
          <p:cNvSpPr txBox="1"/>
          <p:nvPr>
            <p:ph idx="1" type="subTitle"/>
          </p:nvPr>
        </p:nvSpPr>
        <p:spPr>
          <a:xfrm>
            <a:off x="597950" y="2517113"/>
            <a:ext cx="41475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ctr">
              <a:spcBef>
                <a:spcPts val="30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1" name="Google Shape;31;p3"/>
          <p:cNvSpPr txBox="1"/>
          <p:nvPr>
            <p:ph type="title"/>
          </p:nvPr>
        </p:nvSpPr>
        <p:spPr>
          <a:xfrm>
            <a:off x="462838" y="993388"/>
            <a:ext cx="570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marR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100"/>
              <a:buFont typeface="Anton"/>
              <a:buNone/>
              <a:defRPr i="0" sz="4100" u="none" cap="none" strike="noStrike">
                <a:solidFill>
                  <a:schemeClr val="accent2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type="title"/>
          </p:nvPr>
        </p:nvSpPr>
        <p:spPr>
          <a:xfrm>
            <a:off x="462838" y="993388"/>
            <a:ext cx="570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" type="body"/>
          </p:nvPr>
        </p:nvSpPr>
        <p:spPr>
          <a:xfrm>
            <a:off x="1087488" y="2225063"/>
            <a:ext cx="4114800" cy="22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grpSp>
        <p:nvGrpSpPr>
          <p:cNvPr id="35" name="Google Shape;35;p4"/>
          <p:cNvGrpSpPr/>
          <p:nvPr/>
        </p:nvGrpSpPr>
        <p:grpSpPr>
          <a:xfrm>
            <a:off x="411310" y="205958"/>
            <a:ext cx="5351316" cy="569092"/>
            <a:chOff x="0" y="-241102"/>
            <a:chExt cx="14270175" cy="1517579"/>
          </a:xfrm>
        </p:grpSpPr>
        <p:sp>
          <p:nvSpPr>
            <p:cNvPr id="36" name="Google Shape;36;p4"/>
            <p:cNvSpPr txBox="1"/>
            <p:nvPr/>
          </p:nvSpPr>
          <p:spPr>
            <a:xfrm>
              <a:off x="957054" y="192877"/>
              <a:ext cx="13312500" cy="108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998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200" u="none" cap="none" strike="noStrike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DATE/DAY                                      ABOUT US                                                CONTACT US</a:t>
              </a:r>
              <a:endParaRPr sz="700"/>
            </a:p>
          </p:txBody>
        </p:sp>
        <p:grpSp>
          <p:nvGrpSpPr>
            <p:cNvPr id="37" name="Google Shape;37;p4"/>
            <p:cNvGrpSpPr/>
            <p:nvPr/>
          </p:nvGrpSpPr>
          <p:grpSpPr>
            <a:xfrm>
              <a:off x="0" y="-241102"/>
              <a:ext cx="14270175" cy="1151516"/>
              <a:chOff x="0" y="-47625"/>
              <a:chExt cx="2818800" cy="227460"/>
            </a:xfrm>
          </p:grpSpPr>
          <p:sp>
            <p:nvSpPr>
              <p:cNvPr id="38" name="Google Shape;38;p4"/>
              <p:cNvSpPr/>
              <p:nvPr/>
            </p:nvSpPr>
            <p:spPr>
              <a:xfrm>
                <a:off x="0" y="0"/>
                <a:ext cx="2818670" cy="179835"/>
              </a:xfrm>
              <a:custGeom>
                <a:rect b="b" l="l" r="r" t="t"/>
                <a:pathLst>
                  <a:path extrusionOk="0" h="179835" w="2818670">
                    <a:moveTo>
                      <a:pt x="36893" y="0"/>
                    </a:moveTo>
                    <a:lnTo>
                      <a:pt x="2781777" y="0"/>
                    </a:lnTo>
                    <a:cubicBezTo>
                      <a:pt x="2802152" y="0"/>
                      <a:pt x="2818670" y="16518"/>
                      <a:pt x="2818670" y="36893"/>
                    </a:cubicBezTo>
                    <a:lnTo>
                      <a:pt x="2818670" y="142941"/>
                    </a:lnTo>
                    <a:cubicBezTo>
                      <a:pt x="2818670" y="163317"/>
                      <a:pt x="2802152" y="179835"/>
                      <a:pt x="2781777" y="179835"/>
                    </a:cubicBezTo>
                    <a:lnTo>
                      <a:pt x="36893" y="179835"/>
                    </a:lnTo>
                    <a:cubicBezTo>
                      <a:pt x="16518" y="179835"/>
                      <a:pt x="0" y="163317"/>
                      <a:pt x="0" y="142941"/>
                    </a:cubicBezTo>
                    <a:lnTo>
                      <a:pt x="0" y="36893"/>
                    </a:lnTo>
                    <a:cubicBezTo>
                      <a:pt x="0" y="16518"/>
                      <a:pt x="16518" y="0"/>
                      <a:pt x="36893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F24A2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4"/>
              <p:cNvSpPr txBox="1"/>
              <p:nvPr/>
            </p:nvSpPr>
            <p:spPr>
              <a:xfrm>
                <a:off x="0" y="-47625"/>
                <a:ext cx="2818800" cy="22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" name="Google Shape;40;p4"/>
            <p:cNvGrpSpPr/>
            <p:nvPr/>
          </p:nvGrpSpPr>
          <p:grpSpPr>
            <a:xfrm>
              <a:off x="477480" y="340959"/>
              <a:ext cx="228478" cy="228478"/>
              <a:chOff x="0" y="0"/>
              <a:chExt cx="812800" cy="812800"/>
            </a:xfrm>
          </p:grpSpPr>
          <p:sp>
            <p:nvSpPr>
              <p:cNvPr id="41" name="Google Shape;41;p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24A2D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" name="Google Shape;42;p4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" name="Google Shape;43;p4"/>
            <p:cNvGrpSpPr/>
            <p:nvPr/>
          </p:nvGrpSpPr>
          <p:grpSpPr>
            <a:xfrm>
              <a:off x="5531725" y="340959"/>
              <a:ext cx="228478" cy="228478"/>
              <a:chOff x="0" y="0"/>
              <a:chExt cx="812800" cy="812800"/>
            </a:xfrm>
          </p:grpSpPr>
          <p:sp>
            <p:nvSpPr>
              <p:cNvPr id="44" name="Google Shape;44;p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24A2D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" name="Google Shape;45;p4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6" name="Google Shape;46;p4"/>
            <p:cNvGrpSpPr/>
            <p:nvPr/>
          </p:nvGrpSpPr>
          <p:grpSpPr>
            <a:xfrm>
              <a:off x="11528518" y="340959"/>
              <a:ext cx="228478" cy="228478"/>
              <a:chOff x="0" y="0"/>
              <a:chExt cx="812800" cy="812800"/>
            </a:xfrm>
          </p:grpSpPr>
          <p:sp>
            <p:nvSpPr>
              <p:cNvPr id="47" name="Google Shape;47;p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24A2D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" name="Google Shape;48;p4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9" name="Google Shape;49;p4"/>
          <p:cNvGrpSpPr/>
          <p:nvPr/>
        </p:nvGrpSpPr>
        <p:grpSpPr>
          <a:xfrm>
            <a:off x="-633708" y="2806148"/>
            <a:ext cx="1405412" cy="1405412"/>
            <a:chOff x="0" y="0"/>
            <a:chExt cx="812800" cy="812800"/>
          </a:xfrm>
        </p:grpSpPr>
        <p:sp>
          <p:nvSpPr>
            <p:cNvPr id="50" name="Google Shape;50;p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F24A2D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51" name="Google Shape;51;p4"/>
            <p:cNvSpPr txBox="1"/>
            <p:nvPr/>
          </p:nvSpPr>
          <p:spPr>
            <a:xfrm>
              <a:off x="127000" y="79375"/>
              <a:ext cx="558900" cy="60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" name="Google Shape;52;p4"/>
          <p:cNvGrpSpPr/>
          <p:nvPr/>
        </p:nvGrpSpPr>
        <p:grpSpPr>
          <a:xfrm>
            <a:off x="8434379" y="296371"/>
            <a:ext cx="1405412" cy="1405412"/>
            <a:chOff x="0" y="0"/>
            <a:chExt cx="812800" cy="812800"/>
          </a:xfrm>
        </p:grpSpPr>
        <p:sp>
          <p:nvSpPr>
            <p:cNvPr id="53" name="Google Shape;53;p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F24A2D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54" name="Google Shape;54;p4"/>
            <p:cNvSpPr txBox="1"/>
            <p:nvPr/>
          </p:nvSpPr>
          <p:spPr>
            <a:xfrm>
              <a:off x="127000" y="79375"/>
              <a:ext cx="558900" cy="60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"/>
          <p:cNvSpPr txBox="1"/>
          <p:nvPr>
            <p:ph idx="1" type="body"/>
          </p:nvPr>
        </p:nvSpPr>
        <p:spPr>
          <a:xfrm>
            <a:off x="888182" y="3327269"/>
            <a:ext cx="3886200" cy="7503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SzPts val="1200"/>
              <a:buNone/>
              <a:defRPr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SzPts val="1200"/>
              <a:buNone/>
              <a:defRPr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SzPts val="1200"/>
              <a:buNone/>
              <a:defRPr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SzPts val="1200"/>
              <a:buNone/>
              <a:defRPr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SzPts val="1200"/>
              <a:buNone/>
              <a:defRPr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57" name="Google Shape;57;p5"/>
          <p:cNvGrpSpPr/>
          <p:nvPr/>
        </p:nvGrpSpPr>
        <p:grpSpPr>
          <a:xfrm>
            <a:off x="411310" y="205958"/>
            <a:ext cx="5351316" cy="569092"/>
            <a:chOff x="0" y="-241102"/>
            <a:chExt cx="14270175" cy="1517579"/>
          </a:xfrm>
        </p:grpSpPr>
        <p:sp>
          <p:nvSpPr>
            <p:cNvPr id="58" name="Google Shape;58;p5"/>
            <p:cNvSpPr txBox="1"/>
            <p:nvPr/>
          </p:nvSpPr>
          <p:spPr>
            <a:xfrm>
              <a:off x="957054" y="192877"/>
              <a:ext cx="13312500" cy="108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998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200" u="none" cap="none" strike="noStrike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DATE/DAY                                      ABOUT US                                                CONTACT US</a:t>
              </a:r>
              <a:endParaRPr sz="700"/>
            </a:p>
          </p:txBody>
        </p:sp>
        <p:grpSp>
          <p:nvGrpSpPr>
            <p:cNvPr id="59" name="Google Shape;59;p5"/>
            <p:cNvGrpSpPr/>
            <p:nvPr/>
          </p:nvGrpSpPr>
          <p:grpSpPr>
            <a:xfrm>
              <a:off x="0" y="-241102"/>
              <a:ext cx="14270175" cy="1151516"/>
              <a:chOff x="0" y="-47625"/>
              <a:chExt cx="2818800" cy="227460"/>
            </a:xfrm>
          </p:grpSpPr>
          <p:sp>
            <p:nvSpPr>
              <p:cNvPr id="60" name="Google Shape;60;p5"/>
              <p:cNvSpPr/>
              <p:nvPr/>
            </p:nvSpPr>
            <p:spPr>
              <a:xfrm>
                <a:off x="0" y="0"/>
                <a:ext cx="2818670" cy="179835"/>
              </a:xfrm>
              <a:custGeom>
                <a:rect b="b" l="l" r="r" t="t"/>
                <a:pathLst>
                  <a:path extrusionOk="0" h="179835" w="2818670">
                    <a:moveTo>
                      <a:pt x="36893" y="0"/>
                    </a:moveTo>
                    <a:lnTo>
                      <a:pt x="2781777" y="0"/>
                    </a:lnTo>
                    <a:cubicBezTo>
                      <a:pt x="2802152" y="0"/>
                      <a:pt x="2818670" y="16518"/>
                      <a:pt x="2818670" y="36893"/>
                    </a:cubicBezTo>
                    <a:lnTo>
                      <a:pt x="2818670" y="142941"/>
                    </a:lnTo>
                    <a:cubicBezTo>
                      <a:pt x="2818670" y="163317"/>
                      <a:pt x="2802152" y="179835"/>
                      <a:pt x="2781777" y="179835"/>
                    </a:cubicBezTo>
                    <a:lnTo>
                      <a:pt x="36893" y="179835"/>
                    </a:lnTo>
                    <a:cubicBezTo>
                      <a:pt x="16518" y="179835"/>
                      <a:pt x="0" y="163317"/>
                      <a:pt x="0" y="142941"/>
                    </a:cubicBezTo>
                    <a:lnTo>
                      <a:pt x="0" y="36893"/>
                    </a:lnTo>
                    <a:cubicBezTo>
                      <a:pt x="0" y="16518"/>
                      <a:pt x="16518" y="0"/>
                      <a:pt x="36893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F24A2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5"/>
              <p:cNvSpPr txBox="1"/>
              <p:nvPr/>
            </p:nvSpPr>
            <p:spPr>
              <a:xfrm>
                <a:off x="0" y="-47625"/>
                <a:ext cx="2818800" cy="22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2" name="Google Shape;62;p5"/>
            <p:cNvGrpSpPr/>
            <p:nvPr/>
          </p:nvGrpSpPr>
          <p:grpSpPr>
            <a:xfrm>
              <a:off x="477480" y="340959"/>
              <a:ext cx="228478" cy="228478"/>
              <a:chOff x="0" y="0"/>
              <a:chExt cx="812800" cy="812800"/>
            </a:xfrm>
          </p:grpSpPr>
          <p:sp>
            <p:nvSpPr>
              <p:cNvPr id="63" name="Google Shape;63;p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24A2D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" name="Google Shape;64;p5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5" name="Google Shape;65;p5"/>
            <p:cNvGrpSpPr/>
            <p:nvPr/>
          </p:nvGrpSpPr>
          <p:grpSpPr>
            <a:xfrm>
              <a:off x="5531725" y="340959"/>
              <a:ext cx="228478" cy="228478"/>
              <a:chOff x="0" y="0"/>
              <a:chExt cx="812800" cy="812800"/>
            </a:xfrm>
          </p:grpSpPr>
          <p:sp>
            <p:nvSpPr>
              <p:cNvPr id="66" name="Google Shape;66;p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24A2D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" name="Google Shape;67;p5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8" name="Google Shape;68;p5"/>
            <p:cNvGrpSpPr/>
            <p:nvPr/>
          </p:nvGrpSpPr>
          <p:grpSpPr>
            <a:xfrm>
              <a:off x="11528518" y="340959"/>
              <a:ext cx="228478" cy="228478"/>
              <a:chOff x="0" y="0"/>
              <a:chExt cx="812800" cy="812800"/>
            </a:xfrm>
          </p:grpSpPr>
          <p:sp>
            <p:nvSpPr>
              <p:cNvPr id="69" name="Google Shape;69;p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24A2D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5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1" name="Google Shape;71;p5"/>
          <p:cNvSpPr txBox="1"/>
          <p:nvPr>
            <p:ph type="title"/>
          </p:nvPr>
        </p:nvSpPr>
        <p:spPr>
          <a:xfrm>
            <a:off x="462838" y="993388"/>
            <a:ext cx="570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marR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100"/>
              <a:buFont typeface="Anton"/>
              <a:buNone/>
              <a:defRPr i="0" sz="4100" u="none" cap="none" strike="noStrike">
                <a:solidFill>
                  <a:schemeClr val="accent2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/>
        </p:txBody>
      </p:sp>
      <p:grpSp>
        <p:nvGrpSpPr>
          <p:cNvPr id="72" name="Google Shape;72;p5"/>
          <p:cNvGrpSpPr/>
          <p:nvPr/>
        </p:nvGrpSpPr>
        <p:grpSpPr>
          <a:xfrm>
            <a:off x="7055925" y="467073"/>
            <a:ext cx="1405412" cy="1405412"/>
            <a:chOff x="0" y="0"/>
            <a:chExt cx="812800" cy="812800"/>
          </a:xfrm>
        </p:grpSpPr>
        <p:sp>
          <p:nvSpPr>
            <p:cNvPr id="73" name="Google Shape;73;p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24A2D"/>
            </a:solidFill>
            <a:ln>
              <a:noFill/>
            </a:ln>
          </p:spPr>
        </p:sp>
        <p:sp>
          <p:nvSpPr>
            <p:cNvPr id="74" name="Google Shape;74;p5"/>
            <p:cNvSpPr txBox="1"/>
            <p:nvPr/>
          </p:nvSpPr>
          <p:spPr>
            <a:xfrm>
              <a:off x="127000" y="79375"/>
              <a:ext cx="558900" cy="60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5" name="Google Shape;75;p5"/>
          <p:cNvGrpSpPr/>
          <p:nvPr/>
        </p:nvGrpSpPr>
        <p:grpSpPr>
          <a:xfrm>
            <a:off x="-722738" y="2303519"/>
            <a:ext cx="1405412" cy="1405412"/>
            <a:chOff x="0" y="0"/>
            <a:chExt cx="812800" cy="812800"/>
          </a:xfrm>
        </p:grpSpPr>
        <p:sp>
          <p:nvSpPr>
            <p:cNvPr id="76" name="Google Shape;76;p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24A2D"/>
            </a:solidFill>
            <a:ln>
              <a:noFill/>
            </a:ln>
          </p:spPr>
        </p:sp>
        <p:sp>
          <p:nvSpPr>
            <p:cNvPr id="77" name="Google Shape;77;p5"/>
            <p:cNvSpPr txBox="1"/>
            <p:nvPr/>
          </p:nvSpPr>
          <p:spPr>
            <a:xfrm>
              <a:off x="127000" y="79375"/>
              <a:ext cx="558900" cy="60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"/>
          <p:cNvSpPr txBox="1"/>
          <p:nvPr>
            <p:ph type="title"/>
          </p:nvPr>
        </p:nvSpPr>
        <p:spPr>
          <a:xfrm>
            <a:off x="462838" y="993388"/>
            <a:ext cx="570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0" name="Google Shape;80;p6"/>
          <p:cNvSpPr txBox="1"/>
          <p:nvPr>
            <p:ph idx="1" type="body"/>
          </p:nvPr>
        </p:nvSpPr>
        <p:spPr>
          <a:xfrm>
            <a:off x="1107000" y="2420263"/>
            <a:ext cx="2542200" cy="22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/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9pPr>
          </a:lstStyle>
          <a:p/>
        </p:txBody>
      </p:sp>
      <p:sp>
        <p:nvSpPr>
          <p:cNvPr id="81" name="Google Shape;81;p6"/>
          <p:cNvSpPr txBox="1"/>
          <p:nvPr>
            <p:ph idx="2" type="body"/>
          </p:nvPr>
        </p:nvSpPr>
        <p:spPr>
          <a:xfrm>
            <a:off x="3745148" y="2420263"/>
            <a:ext cx="2542200" cy="22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/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9pPr>
          </a:lstStyle>
          <a:p/>
        </p:txBody>
      </p:sp>
      <p:grpSp>
        <p:nvGrpSpPr>
          <p:cNvPr id="82" name="Google Shape;82;p6"/>
          <p:cNvGrpSpPr/>
          <p:nvPr/>
        </p:nvGrpSpPr>
        <p:grpSpPr>
          <a:xfrm>
            <a:off x="411310" y="205958"/>
            <a:ext cx="5351316" cy="569092"/>
            <a:chOff x="0" y="-241102"/>
            <a:chExt cx="14270175" cy="1517579"/>
          </a:xfrm>
        </p:grpSpPr>
        <p:sp>
          <p:nvSpPr>
            <p:cNvPr id="83" name="Google Shape;83;p6"/>
            <p:cNvSpPr txBox="1"/>
            <p:nvPr/>
          </p:nvSpPr>
          <p:spPr>
            <a:xfrm>
              <a:off x="957054" y="192877"/>
              <a:ext cx="13312500" cy="108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998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200" u="none" cap="none" strike="noStrike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DATE/DAY                                      ABOUT US                                                CONTACT US</a:t>
              </a:r>
              <a:endParaRPr sz="700"/>
            </a:p>
          </p:txBody>
        </p:sp>
        <p:grpSp>
          <p:nvGrpSpPr>
            <p:cNvPr id="84" name="Google Shape;84;p6"/>
            <p:cNvGrpSpPr/>
            <p:nvPr/>
          </p:nvGrpSpPr>
          <p:grpSpPr>
            <a:xfrm>
              <a:off x="0" y="-241102"/>
              <a:ext cx="14270175" cy="1151516"/>
              <a:chOff x="0" y="-47625"/>
              <a:chExt cx="2818800" cy="227460"/>
            </a:xfrm>
          </p:grpSpPr>
          <p:sp>
            <p:nvSpPr>
              <p:cNvPr id="85" name="Google Shape;85;p6"/>
              <p:cNvSpPr/>
              <p:nvPr/>
            </p:nvSpPr>
            <p:spPr>
              <a:xfrm>
                <a:off x="0" y="0"/>
                <a:ext cx="2818670" cy="179835"/>
              </a:xfrm>
              <a:custGeom>
                <a:rect b="b" l="l" r="r" t="t"/>
                <a:pathLst>
                  <a:path extrusionOk="0" h="179835" w="2818670">
                    <a:moveTo>
                      <a:pt x="36893" y="0"/>
                    </a:moveTo>
                    <a:lnTo>
                      <a:pt x="2781777" y="0"/>
                    </a:lnTo>
                    <a:cubicBezTo>
                      <a:pt x="2802152" y="0"/>
                      <a:pt x="2818670" y="16518"/>
                      <a:pt x="2818670" y="36893"/>
                    </a:cubicBezTo>
                    <a:lnTo>
                      <a:pt x="2818670" y="142941"/>
                    </a:lnTo>
                    <a:cubicBezTo>
                      <a:pt x="2818670" y="163317"/>
                      <a:pt x="2802152" y="179835"/>
                      <a:pt x="2781777" y="179835"/>
                    </a:cubicBezTo>
                    <a:lnTo>
                      <a:pt x="36893" y="179835"/>
                    </a:lnTo>
                    <a:cubicBezTo>
                      <a:pt x="16518" y="179835"/>
                      <a:pt x="0" y="163317"/>
                      <a:pt x="0" y="142941"/>
                    </a:cubicBezTo>
                    <a:lnTo>
                      <a:pt x="0" y="36893"/>
                    </a:lnTo>
                    <a:cubicBezTo>
                      <a:pt x="0" y="16518"/>
                      <a:pt x="16518" y="0"/>
                      <a:pt x="36893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F24A2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" name="Google Shape;86;p6"/>
              <p:cNvSpPr txBox="1"/>
              <p:nvPr/>
            </p:nvSpPr>
            <p:spPr>
              <a:xfrm>
                <a:off x="0" y="-47625"/>
                <a:ext cx="2818800" cy="22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7" name="Google Shape;87;p6"/>
            <p:cNvGrpSpPr/>
            <p:nvPr/>
          </p:nvGrpSpPr>
          <p:grpSpPr>
            <a:xfrm>
              <a:off x="477480" y="340959"/>
              <a:ext cx="228478" cy="228478"/>
              <a:chOff x="0" y="0"/>
              <a:chExt cx="812800" cy="812800"/>
            </a:xfrm>
          </p:grpSpPr>
          <p:sp>
            <p:nvSpPr>
              <p:cNvPr id="88" name="Google Shape;88;p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24A2D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" name="Google Shape;89;p6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0" name="Google Shape;90;p6"/>
            <p:cNvGrpSpPr/>
            <p:nvPr/>
          </p:nvGrpSpPr>
          <p:grpSpPr>
            <a:xfrm>
              <a:off x="5531725" y="340959"/>
              <a:ext cx="228478" cy="228478"/>
              <a:chOff x="0" y="0"/>
              <a:chExt cx="812800" cy="812800"/>
            </a:xfrm>
          </p:grpSpPr>
          <p:sp>
            <p:nvSpPr>
              <p:cNvPr id="91" name="Google Shape;91;p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24A2D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" name="Google Shape;92;p6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3" name="Google Shape;93;p6"/>
            <p:cNvGrpSpPr/>
            <p:nvPr/>
          </p:nvGrpSpPr>
          <p:grpSpPr>
            <a:xfrm>
              <a:off x="11528518" y="340959"/>
              <a:ext cx="228478" cy="228478"/>
              <a:chOff x="0" y="0"/>
              <a:chExt cx="812800" cy="812800"/>
            </a:xfrm>
          </p:grpSpPr>
          <p:sp>
            <p:nvSpPr>
              <p:cNvPr id="94" name="Google Shape;94;p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24A2D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" name="Google Shape;95;p6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6" name="Google Shape;96;p6"/>
          <p:cNvGrpSpPr/>
          <p:nvPr/>
        </p:nvGrpSpPr>
        <p:grpSpPr>
          <a:xfrm>
            <a:off x="8398135" y="3118345"/>
            <a:ext cx="1405412" cy="1405412"/>
            <a:chOff x="0" y="0"/>
            <a:chExt cx="812800" cy="812800"/>
          </a:xfrm>
        </p:grpSpPr>
        <p:sp>
          <p:nvSpPr>
            <p:cNvPr id="97" name="Google Shape;97;p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F24A2D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98" name="Google Shape;98;p6"/>
            <p:cNvSpPr txBox="1"/>
            <p:nvPr/>
          </p:nvSpPr>
          <p:spPr>
            <a:xfrm>
              <a:off x="127000" y="79375"/>
              <a:ext cx="558900" cy="60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/>
          <p:nvPr>
            <p:ph type="title"/>
          </p:nvPr>
        </p:nvSpPr>
        <p:spPr>
          <a:xfrm>
            <a:off x="462838" y="993388"/>
            <a:ext cx="570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1" name="Google Shape;101;p7"/>
          <p:cNvSpPr txBox="1"/>
          <p:nvPr>
            <p:ph idx="1" type="body"/>
          </p:nvPr>
        </p:nvSpPr>
        <p:spPr>
          <a:xfrm>
            <a:off x="1049963" y="2444075"/>
            <a:ext cx="2519100" cy="19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/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9pPr>
          </a:lstStyle>
          <a:p/>
        </p:txBody>
      </p:sp>
      <p:sp>
        <p:nvSpPr>
          <p:cNvPr id="102" name="Google Shape;102;p7"/>
          <p:cNvSpPr txBox="1"/>
          <p:nvPr>
            <p:ph idx="2" type="body"/>
          </p:nvPr>
        </p:nvSpPr>
        <p:spPr>
          <a:xfrm>
            <a:off x="3661239" y="2444075"/>
            <a:ext cx="2520300" cy="19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/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9pPr>
          </a:lstStyle>
          <a:p/>
        </p:txBody>
      </p:sp>
      <p:grpSp>
        <p:nvGrpSpPr>
          <p:cNvPr id="103" name="Google Shape;103;p7"/>
          <p:cNvGrpSpPr/>
          <p:nvPr/>
        </p:nvGrpSpPr>
        <p:grpSpPr>
          <a:xfrm>
            <a:off x="411310" y="205958"/>
            <a:ext cx="5351316" cy="569092"/>
            <a:chOff x="0" y="-241102"/>
            <a:chExt cx="14270175" cy="1517579"/>
          </a:xfrm>
        </p:grpSpPr>
        <p:sp>
          <p:nvSpPr>
            <p:cNvPr id="104" name="Google Shape;104;p7"/>
            <p:cNvSpPr txBox="1"/>
            <p:nvPr/>
          </p:nvSpPr>
          <p:spPr>
            <a:xfrm>
              <a:off x="957054" y="192877"/>
              <a:ext cx="13312500" cy="108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998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200" u="none" cap="none" strike="noStrike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DATE/DAY                                      ABOUT US                                                CONTACT US</a:t>
              </a:r>
              <a:endParaRPr sz="700"/>
            </a:p>
          </p:txBody>
        </p:sp>
        <p:grpSp>
          <p:nvGrpSpPr>
            <p:cNvPr id="105" name="Google Shape;105;p7"/>
            <p:cNvGrpSpPr/>
            <p:nvPr/>
          </p:nvGrpSpPr>
          <p:grpSpPr>
            <a:xfrm>
              <a:off x="0" y="-241102"/>
              <a:ext cx="14270175" cy="1151516"/>
              <a:chOff x="0" y="-47625"/>
              <a:chExt cx="2818800" cy="227460"/>
            </a:xfrm>
          </p:grpSpPr>
          <p:sp>
            <p:nvSpPr>
              <p:cNvPr id="106" name="Google Shape;106;p7"/>
              <p:cNvSpPr/>
              <p:nvPr/>
            </p:nvSpPr>
            <p:spPr>
              <a:xfrm>
                <a:off x="0" y="0"/>
                <a:ext cx="2818670" cy="179835"/>
              </a:xfrm>
              <a:custGeom>
                <a:rect b="b" l="l" r="r" t="t"/>
                <a:pathLst>
                  <a:path extrusionOk="0" h="179835" w="2818670">
                    <a:moveTo>
                      <a:pt x="36893" y="0"/>
                    </a:moveTo>
                    <a:lnTo>
                      <a:pt x="2781777" y="0"/>
                    </a:lnTo>
                    <a:cubicBezTo>
                      <a:pt x="2802152" y="0"/>
                      <a:pt x="2818670" y="16518"/>
                      <a:pt x="2818670" y="36893"/>
                    </a:cubicBezTo>
                    <a:lnTo>
                      <a:pt x="2818670" y="142941"/>
                    </a:lnTo>
                    <a:cubicBezTo>
                      <a:pt x="2818670" y="163317"/>
                      <a:pt x="2802152" y="179835"/>
                      <a:pt x="2781777" y="179835"/>
                    </a:cubicBezTo>
                    <a:lnTo>
                      <a:pt x="36893" y="179835"/>
                    </a:lnTo>
                    <a:cubicBezTo>
                      <a:pt x="16518" y="179835"/>
                      <a:pt x="0" y="163317"/>
                      <a:pt x="0" y="142941"/>
                    </a:cubicBezTo>
                    <a:lnTo>
                      <a:pt x="0" y="36893"/>
                    </a:lnTo>
                    <a:cubicBezTo>
                      <a:pt x="0" y="16518"/>
                      <a:pt x="16518" y="0"/>
                      <a:pt x="36893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F24A2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" name="Google Shape;107;p7"/>
              <p:cNvSpPr txBox="1"/>
              <p:nvPr/>
            </p:nvSpPr>
            <p:spPr>
              <a:xfrm>
                <a:off x="0" y="-47625"/>
                <a:ext cx="2818800" cy="22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8" name="Google Shape;108;p7"/>
            <p:cNvGrpSpPr/>
            <p:nvPr/>
          </p:nvGrpSpPr>
          <p:grpSpPr>
            <a:xfrm>
              <a:off x="477480" y="340959"/>
              <a:ext cx="228478" cy="228478"/>
              <a:chOff x="0" y="0"/>
              <a:chExt cx="812800" cy="812800"/>
            </a:xfrm>
          </p:grpSpPr>
          <p:sp>
            <p:nvSpPr>
              <p:cNvPr id="109" name="Google Shape;109;p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24A2D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" name="Google Shape;110;p7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1" name="Google Shape;111;p7"/>
            <p:cNvGrpSpPr/>
            <p:nvPr/>
          </p:nvGrpSpPr>
          <p:grpSpPr>
            <a:xfrm>
              <a:off x="5531725" y="340959"/>
              <a:ext cx="228478" cy="228478"/>
              <a:chOff x="0" y="0"/>
              <a:chExt cx="812800" cy="812800"/>
            </a:xfrm>
          </p:grpSpPr>
          <p:sp>
            <p:nvSpPr>
              <p:cNvPr id="112" name="Google Shape;112;p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24A2D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" name="Google Shape;113;p7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4" name="Google Shape;114;p7"/>
            <p:cNvGrpSpPr/>
            <p:nvPr/>
          </p:nvGrpSpPr>
          <p:grpSpPr>
            <a:xfrm>
              <a:off x="11528518" y="340959"/>
              <a:ext cx="228478" cy="228478"/>
              <a:chOff x="0" y="0"/>
              <a:chExt cx="812800" cy="812800"/>
            </a:xfrm>
          </p:grpSpPr>
          <p:sp>
            <p:nvSpPr>
              <p:cNvPr id="115" name="Google Shape;115;p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24A2D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7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7" name="Google Shape;117;p7"/>
          <p:cNvGrpSpPr/>
          <p:nvPr/>
        </p:nvGrpSpPr>
        <p:grpSpPr>
          <a:xfrm>
            <a:off x="8441297" y="319343"/>
            <a:ext cx="1405412" cy="1405412"/>
            <a:chOff x="0" y="0"/>
            <a:chExt cx="812800" cy="812800"/>
          </a:xfrm>
        </p:grpSpPr>
        <p:sp>
          <p:nvSpPr>
            <p:cNvPr id="118" name="Google Shape;118;p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24A2D"/>
            </a:solidFill>
            <a:ln>
              <a:noFill/>
            </a:ln>
          </p:spPr>
        </p:sp>
        <p:sp>
          <p:nvSpPr>
            <p:cNvPr id="119" name="Google Shape;119;p7"/>
            <p:cNvSpPr txBox="1"/>
            <p:nvPr/>
          </p:nvSpPr>
          <p:spPr>
            <a:xfrm>
              <a:off x="127000" y="79375"/>
              <a:ext cx="558900" cy="60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8"/>
          <p:cNvSpPr txBox="1"/>
          <p:nvPr>
            <p:ph type="title"/>
          </p:nvPr>
        </p:nvSpPr>
        <p:spPr>
          <a:xfrm>
            <a:off x="462838" y="993388"/>
            <a:ext cx="570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grpSp>
        <p:nvGrpSpPr>
          <p:cNvPr id="122" name="Google Shape;122;p8"/>
          <p:cNvGrpSpPr/>
          <p:nvPr/>
        </p:nvGrpSpPr>
        <p:grpSpPr>
          <a:xfrm>
            <a:off x="411310" y="205958"/>
            <a:ext cx="5351316" cy="569092"/>
            <a:chOff x="0" y="-241102"/>
            <a:chExt cx="14270175" cy="1517579"/>
          </a:xfrm>
        </p:grpSpPr>
        <p:sp>
          <p:nvSpPr>
            <p:cNvPr id="123" name="Google Shape;123;p8"/>
            <p:cNvSpPr txBox="1"/>
            <p:nvPr/>
          </p:nvSpPr>
          <p:spPr>
            <a:xfrm>
              <a:off x="957054" y="192877"/>
              <a:ext cx="13312500" cy="108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998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200" u="none" cap="none" strike="noStrike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DATE/DAY                                      ABOUT US                                                CONTACT US</a:t>
              </a:r>
              <a:endParaRPr sz="700"/>
            </a:p>
          </p:txBody>
        </p:sp>
        <p:grpSp>
          <p:nvGrpSpPr>
            <p:cNvPr id="124" name="Google Shape;124;p8"/>
            <p:cNvGrpSpPr/>
            <p:nvPr/>
          </p:nvGrpSpPr>
          <p:grpSpPr>
            <a:xfrm>
              <a:off x="0" y="-241102"/>
              <a:ext cx="14270175" cy="1151516"/>
              <a:chOff x="0" y="-47625"/>
              <a:chExt cx="2818800" cy="227460"/>
            </a:xfrm>
          </p:grpSpPr>
          <p:sp>
            <p:nvSpPr>
              <p:cNvPr id="125" name="Google Shape;125;p8"/>
              <p:cNvSpPr/>
              <p:nvPr/>
            </p:nvSpPr>
            <p:spPr>
              <a:xfrm>
                <a:off x="0" y="0"/>
                <a:ext cx="2818670" cy="179835"/>
              </a:xfrm>
              <a:custGeom>
                <a:rect b="b" l="l" r="r" t="t"/>
                <a:pathLst>
                  <a:path extrusionOk="0" h="179835" w="2818670">
                    <a:moveTo>
                      <a:pt x="36893" y="0"/>
                    </a:moveTo>
                    <a:lnTo>
                      <a:pt x="2781777" y="0"/>
                    </a:lnTo>
                    <a:cubicBezTo>
                      <a:pt x="2802152" y="0"/>
                      <a:pt x="2818670" y="16518"/>
                      <a:pt x="2818670" y="36893"/>
                    </a:cubicBezTo>
                    <a:lnTo>
                      <a:pt x="2818670" y="142941"/>
                    </a:lnTo>
                    <a:cubicBezTo>
                      <a:pt x="2818670" y="163317"/>
                      <a:pt x="2802152" y="179835"/>
                      <a:pt x="2781777" y="179835"/>
                    </a:cubicBezTo>
                    <a:lnTo>
                      <a:pt x="36893" y="179835"/>
                    </a:lnTo>
                    <a:cubicBezTo>
                      <a:pt x="16518" y="179835"/>
                      <a:pt x="0" y="163317"/>
                      <a:pt x="0" y="142941"/>
                    </a:cubicBezTo>
                    <a:lnTo>
                      <a:pt x="0" y="36893"/>
                    </a:lnTo>
                    <a:cubicBezTo>
                      <a:pt x="0" y="16518"/>
                      <a:pt x="16518" y="0"/>
                      <a:pt x="36893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F24A2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" name="Google Shape;126;p8"/>
              <p:cNvSpPr txBox="1"/>
              <p:nvPr/>
            </p:nvSpPr>
            <p:spPr>
              <a:xfrm>
                <a:off x="0" y="-47625"/>
                <a:ext cx="2818800" cy="22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7" name="Google Shape;127;p8"/>
            <p:cNvGrpSpPr/>
            <p:nvPr/>
          </p:nvGrpSpPr>
          <p:grpSpPr>
            <a:xfrm>
              <a:off x="477480" y="340959"/>
              <a:ext cx="228478" cy="228478"/>
              <a:chOff x="0" y="0"/>
              <a:chExt cx="812800" cy="812800"/>
            </a:xfrm>
          </p:grpSpPr>
          <p:sp>
            <p:nvSpPr>
              <p:cNvPr id="128" name="Google Shape;128;p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24A2D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" name="Google Shape;129;p8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0" name="Google Shape;130;p8"/>
            <p:cNvGrpSpPr/>
            <p:nvPr/>
          </p:nvGrpSpPr>
          <p:grpSpPr>
            <a:xfrm>
              <a:off x="5531725" y="340959"/>
              <a:ext cx="228478" cy="228478"/>
              <a:chOff x="0" y="0"/>
              <a:chExt cx="812800" cy="812800"/>
            </a:xfrm>
          </p:grpSpPr>
          <p:sp>
            <p:nvSpPr>
              <p:cNvPr id="131" name="Google Shape;131;p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24A2D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" name="Google Shape;132;p8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3" name="Google Shape;133;p8"/>
            <p:cNvGrpSpPr/>
            <p:nvPr/>
          </p:nvGrpSpPr>
          <p:grpSpPr>
            <a:xfrm>
              <a:off x="11528518" y="340959"/>
              <a:ext cx="228478" cy="228478"/>
              <a:chOff x="0" y="0"/>
              <a:chExt cx="812800" cy="812800"/>
            </a:xfrm>
          </p:grpSpPr>
          <p:sp>
            <p:nvSpPr>
              <p:cNvPr id="134" name="Google Shape;134;p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24A2D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" name="Google Shape;135;p8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36" name="Google Shape;136;p8"/>
          <p:cNvGrpSpPr/>
          <p:nvPr/>
        </p:nvGrpSpPr>
        <p:grpSpPr>
          <a:xfrm>
            <a:off x="6452004" y="423429"/>
            <a:ext cx="1405412" cy="1405412"/>
            <a:chOff x="0" y="0"/>
            <a:chExt cx="812800" cy="812800"/>
          </a:xfrm>
        </p:grpSpPr>
        <p:sp>
          <p:nvSpPr>
            <p:cNvPr id="137" name="Google Shape;137;p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F24A2D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38" name="Google Shape;138;p8"/>
            <p:cNvSpPr txBox="1"/>
            <p:nvPr/>
          </p:nvSpPr>
          <p:spPr>
            <a:xfrm>
              <a:off x="127000" y="79375"/>
              <a:ext cx="558900" cy="60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9" name="Google Shape;139;p8"/>
          <p:cNvGrpSpPr/>
          <p:nvPr/>
        </p:nvGrpSpPr>
        <p:grpSpPr>
          <a:xfrm>
            <a:off x="-702703" y="3300105"/>
            <a:ext cx="1405412" cy="1405412"/>
            <a:chOff x="0" y="0"/>
            <a:chExt cx="812800" cy="812800"/>
          </a:xfrm>
        </p:grpSpPr>
        <p:sp>
          <p:nvSpPr>
            <p:cNvPr id="140" name="Google Shape;140;p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24A2D"/>
            </a:solidFill>
            <a:ln>
              <a:noFill/>
            </a:ln>
          </p:spPr>
        </p:sp>
        <p:sp>
          <p:nvSpPr>
            <p:cNvPr id="141" name="Google Shape;141;p8"/>
            <p:cNvSpPr txBox="1"/>
            <p:nvPr/>
          </p:nvSpPr>
          <p:spPr>
            <a:xfrm>
              <a:off x="127000" y="79375"/>
              <a:ext cx="558900" cy="60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 txBox="1"/>
          <p:nvPr>
            <p:ph idx="1" type="body"/>
          </p:nvPr>
        </p:nvSpPr>
        <p:spPr>
          <a:xfrm>
            <a:off x="3700488" y="2298663"/>
            <a:ext cx="2556000" cy="21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1pPr>
            <a:lvl2pPr indent="-3048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/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9pPr>
          </a:lstStyle>
          <a:p/>
        </p:txBody>
      </p:sp>
      <p:sp>
        <p:nvSpPr>
          <p:cNvPr id="144" name="Google Shape;144;p9"/>
          <p:cNvSpPr txBox="1"/>
          <p:nvPr>
            <p:ph idx="2" type="body"/>
          </p:nvPr>
        </p:nvSpPr>
        <p:spPr>
          <a:xfrm>
            <a:off x="694913" y="2298663"/>
            <a:ext cx="2850000" cy="23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/>
        </p:txBody>
      </p:sp>
      <p:grpSp>
        <p:nvGrpSpPr>
          <p:cNvPr id="145" name="Google Shape;145;p9"/>
          <p:cNvGrpSpPr/>
          <p:nvPr/>
        </p:nvGrpSpPr>
        <p:grpSpPr>
          <a:xfrm>
            <a:off x="411310" y="205958"/>
            <a:ext cx="5351316" cy="569092"/>
            <a:chOff x="0" y="-241102"/>
            <a:chExt cx="14270175" cy="1517579"/>
          </a:xfrm>
        </p:grpSpPr>
        <p:sp>
          <p:nvSpPr>
            <p:cNvPr id="146" name="Google Shape;146;p9"/>
            <p:cNvSpPr txBox="1"/>
            <p:nvPr/>
          </p:nvSpPr>
          <p:spPr>
            <a:xfrm>
              <a:off x="957054" y="192877"/>
              <a:ext cx="13312500" cy="108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998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200" u="none" cap="none" strike="noStrike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DATE/DAY                                      ABOUT US                                                CONTACT US</a:t>
              </a:r>
              <a:endParaRPr sz="700"/>
            </a:p>
          </p:txBody>
        </p:sp>
        <p:grpSp>
          <p:nvGrpSpPr>
            <p:cNvPr id="147" name="Google Shape;147;p9"/>
            <p:cNvGrpSpPr/>
            <p:nvPr/>
          </p:nvGrpSpPr>
          <p:grpSpPr>
            <a:xfrm>
              <a:off x="0" y="-241102"/>
              <a:ext cx="14270175" cy="1151516"/>
              <a:chOff x="0" y="-47625"/>
              <a:chExt cx="2818800" cy="227460"/>
            </a:xfrm>
          </p:grpSpPr>
          <p:sp>
            <p:nvSpPr>
              <p:cNvPr id="148" name="Google Shape;148;p9"/>
              <p:cNvSpPr/>
              <p:nvPr/>
            </p:nvSpPr>
            <p:spPr>
              <a:xfrm>
                <a:off x="0" y="0"/>
                <a:ext cx="2818670" cy="179835"/>
              </a:xfrm>
              <a:custGeom>
                <a:rect b="b" l="l" r="r" t="t"/>
                <a:pathLst>
                  <a:path extrusionOk="0" h="179835" w="2818670">
                    <a:moveTo>
                      <a:pt x="36893" y="0"/>
                    </a:moveTo>
                    <a:lnTo>
                      <a:pt x="2781777" y="0"/>
                    </a:lnTo>
                    <a:cubicBezTo>
                      <a:pt x="2802152" y="0"/>
                      <a:pt x="2818670" y="16518"/>
                      <a:pt x="2818670" y="36893"/>
                    </a:cubicBezTo>
                    <a:lnTo>
                      <a:pt x="2818670" y="142941"/>
                    </a:lnTo>
                    <a:cubicBezTo>
                      <a:pt x="2818670" y="163317"/>
                      <a:pt x="2802152" y="179835"/>
                      <a:pt x="2781777" y="179835"/>
                    </a:cubicBezTo>
                    <a:lnTo>
                      <a:pt x="36893" y="179835"/>
                    </a:lnTo>
                    <a:cubicBezTo>
                      <a:pt x="16518" y="179835"/>
                      <a:pt x="0" y="163317"/>
                      <a:pt x="0" y="142941"/>
                    </a:cubicBezTo>
                    <a:lnTo>
                      <a:pt x="0" y="36893"/>
                    </a:lnTo>
                    <a:cubicBezTo>
                      <a:pt x="0" y="16518"/>
                      <a:pt x="16518" y="0"/>
                      <a:pt x="36893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F24A2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" name="Google Shape;149;p9"/>
              <p:cNvSpPr txBox="1"/>
              <p:nvPr/>
            </p:nvSpPr>
            <p:spPr>
              <a:xfrm>
                <a:off x="0" y="-47625"/>
                <a:ext cx="2818800" cy="22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0" name="Google Shape;150;p9"/>
            <p:cNvGrpSpPr/>
            <p:nvPr/>
          </p:nvGrpSpPr>
          <p:grpSpPr>
            <a:xfrm>
              <a:off x="477480" y="340959"/>
              <a:ext cx="228478" cy="228478"/>
              <a:chOff x="0" y="0"/>
              <a:chExt cx="812800" cy="812800"/>
            </a:xfrm>
          </p:grpSpPr>
          <p:sp>
            <p:nvSpPr>
              <p:cNvPr id="151" name="Google Shape;151;p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24A2D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9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3" name="Google Shape;153;p9"/>
            <p:cNvGrpSpPr/>
            <p:nvPr/>
          </p:nvGrpSpPr>
          <p:grpSpPr>
            <a:xfrm>
              <a:off x="5531725" y="340959"/>
              <a:ext cx="228478" cy="228478"/>
              <a:chOff x="0" y="0"/>
              <a:chExt cx="812800" cy="812800"/>
            </a:xfrm>
          </p:grpSpPr>
          <p:sp>
            <p:nvSpPr>
              <p:cNvPr id="154" name="Google Shape;154;p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24A2D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" name="Google Shape;155;p9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6" name="Google Shape;156;p9"/>
            <p:cNvGrpSpPr/>
            <p:nvPr/>
          </p:nvGrpSpPr>
          <p:grpSpPr>
            <a:xfrm>
              <a:off x="11528518" y="340959"/>
              <a:ext cx="228478" cy="228478"/>
              <a:chOff x="0" y="0"/>
              <a:chExt cx="812800" cy="812800"/>
            </a:xfrm>
          </p:grpSpPr>
          <p:sp>
            <p:nvSpPr>
              <p:cNvPr id="157" name="Google Shape;157;p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24A2D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9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59" name="Google Shape;159;p9"/>
          <p:cNvSpPr txBox="1"/>
          <p:nvPr>
            <p:ph type="title"/>
          </p:nvPr>
        </p:nvSpPr>
        <p:spPr>
          <a:xfrm>
            <a:off x="462838" y="993388"/>
            <a:ext cx="570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marR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100"/>
              <a:buFont typeface="Anton"/>
              <a:buNone/>
              <a:defRPr i="0" sz="4100" u="none" cap="none" strike="noStrike">
                <a:solidFill>
                  <a:schemeClr val="accent2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/>
        </p:txBody>
      </p:sp>
      <p:grpSp>
        <p:nvGrpSpPr>
          <p:cNvPr id="160" name="Google Shape;160;p9"/>
          <p:cNvGrpSpPr/>
          <p:nvPr/>
        </p:nvGrpSpPr>
        <p:grpSpPr>
          <a:xfrm>
            <a:off x="6175857" y="309204"/>
            <a:ext cx="1405412" cy="1405412"/>
            <a:chOff x="0" y="0"/>
            <a:chExt cx="812800" cy="812800"/>
          </a:xfrm>
        </p:grpSpPr>
        <p:sp>
          <p:nvSpPr>
            <p:cNvPr id="161" name="Google Shape;161;p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24A2D"/>
            </a:solidFill>
            <a:ln>
              <a:noFill/>
            </a:ln>
          </p:spPr>
        </p:sp>
        <p:sp>
          <p:nvSpPr>
            <p:cNvPr id="162" name="Google Shape;162;p9"/>
            <p:cNvSpPr txBox="1"/>
            <p:nvPr/>
          </p:nvSpPr>
          <p:spPr>
            <a:xfrm>
              <a:off x="127000" y="79375"/>
              <a:ext cx="558900" cy="60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3" name="Google Shape;163;p9"/>
          <p:cNvGrpSpPr/>
          <p:nvPr/>
        </p:nvGrpSpPr>
        <p:grpSpPr>
          <a:xfrm>
            <a:off x="8629650" y="3446749"/>
            <a:ext cx="1405412" cy="1405412"/>
            <a:chOff x="0" y="0"/>
            <a:chExt cx="812800" cy="812800"/>
          </a:xfrm>
        </p:grpSpPr>
        <p:sp>
          <p:nvSpPr>
            <p:cNvPr id="164" name="Google Shape;164;p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F24A2D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65" name="Google Shape;165;p9"/>
            <p:cNvSpPr txBox="1"/>
            <p:nvPr/>
          </p:nvSpPr>
          <p:spPr>
            <a:xfrm>
              <a:off x="127000" y="79375"/>
              <a:ext cx="558900" cy="60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0"/>
          <p:cNvSpPr/>
          <p:nvPr>
            <p:ph idx="2" type="pic"/>
          </p:nvPr>
        </p:nvSpPr>
        <p:spPr>
          <a:xfrm>
            <a:off x="5122194" y="2322550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168" name="Google Shape;168;p10"/>
          <p:cNvSpPr txBox="1"/>
          <p:nvPr>
            <p:ph idx="1" type="body"/>
          </p:nvPr>
        </p:nvSpPr>
        <p:spPr>
          <a:xfrm>
            <a:off x="925419" y="2586069"/>
            <a:ext cx="27432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/>
        </p:txBody>
      </p:sp>
      <p:grpSp>
        <p:nvGrpSpPr>
          <p:cNvPr id="169" name="Google Shape;169;p10"/>
          <p:cNvGrpSpPr/>
          <p:nvPr/>
        </p:nvGrpSpPr>
        <p:grpSpPr>
          <a:xfrm>
            <a:off x="411310" y="205958"/>
            <a:ext cx="5351316" cy="569092"/>
            <a:chOff x="0" y="-241102"/>
            <a:chExt cx="14270175" cy="1517579"/>
          </a:xfrm>
        </p:grpSpPr>
        <p:sp>
          <p:nvSpPr>
            <p:cNvPr id="170" name="Google Shape;170;p10"/>
            <p:cNvSpPr txBox="1"/>
            <p:nvPr/>
          </p:nvSpPr>
          <p:spPr>
            <a:xfrm>
              <a:off x="957054" y="192877"/>
              <a:ext cx="13312500" cy="108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998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200" u="none" cap="none" strike="noStrike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DATE/DAY                                      ABOUT US                                                CONTACT US</a:t>
              </a:r>
              <a:endParaRPr sz="700"/>
            </a:p>
          </p:txBody>
        </p:sp>
        <p:grpSp>
          <p:nvGrpSpPr>
            <p:cNvPr id="171" name="Google Shape;171;p10"/>
            <p:cNvGrpSpPr/>
            <p:nvPr/>
          </p:nvGrpSpPr>
          <p:grpSpPr>
            <a:xfrm>
              <a:off x="0" y="-241102"/>
              <a:ext cx="14270175" cy="1151516"/>
              <a:chOff x="0" y="-47625"/>
              <a:chExt cx="2818800" cy="227460"/>
            </a:xfrm>
          </p:grpSpPr>
          <p:sp>
            <p:nvSpPr>
              <p:cNvPr id="172" name="Google Shape;172;p10"/>
              <p:cNvSpPr/>
              <p:nvPr/>
            </p:nvSpPr>
            <p:spPr>
              <a:xfrm>
                <a:off x="0" y="0"/>
                <a:ext cx="2818670" cy="179835"/>
              </a:xfrm>
              <a:custGeom>
                <a:rect b="b" l="l" r="r" t="t"/>
                <a:pathLst>
                  <a:path extrusionOk="0" h="179835" w="2818670">
                    <a:moveTo>
                      <a:pt x="36893" y="0"/>
                    </a:moveTo>
                    <a:lnTo>
                      <a:pt x="2781777" y="0"/>
                    </a:lnTo>
                    <a:cubicBezTo>
                      <a:pt x="2802152" y="0"/>
                      <a:pt x="2818670" y="16518"/>
                      <a:pt x="2818670" y="36893"/>
                    </a:cubicBezTo>
                    <a:lnTo>
                      <a:pt x="2818670" y="142941"/>
                    </a:lnTo>
                    <a:cubicBezTo>
                      <a:pt x="2818670" y="163317"/>
                      <a:pt x="2802152" y="179835"/>
                      <a:pt x="2781777" y="179835"/>
                    </a:cubicBezTo>
                    <a:lnTo>
                      <a:pt x="36893" y="179835"/>
                    </a:lnTo>
                    <a:cubicBezTo>
                      <a:pt x="16518" y="179835"/>
                      <a:pt x="0" y="163317"/>
                      <a:pt x="0" y="142941"/>
                    </a:cubicBezTo>
                    <a:lnTo>
                      <a:pt x="0" y="36893"/>
                    </a:lnTo>
                    <a:cubicBezTo>
                      <a:pt x="0" y="16518"/>
                      <a:pt x="16518" y="0"/>
                      <a:pt x="36893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F24A2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0"/>
              <p:cNvSpPr txBox="1"/>
              <p:nvPr/>
            </p:nvSpPr>
            <p:spPr>
              <a:xfrm>
                <a:off x="0" y="-47625"/>
                <a:ext cx="2818800" cy="22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4" name="Google Shape;174;p10"/>
            <p:cNvGrpSpPr/>
            <p:nvPr/>
          </p:nvGrpSpPr>
          <p:grpSpPr>
            <a:xfrm>
              <a:off x="477480" y="340959"/>
              <a:ext cx="228478" cy="228478"/>
              <a:chOff x="0" y="0"/>
              <a:chExt cx="812800" cy="812800"/>
            </a:xfrm>
          </p:grpSpPr>
          <p:sp>
            <p:nvSpPr>
              <p:cNvPr id="175" name="Google Shape;175;p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24A2D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0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7" name="Google Shape;177;p10"/>
            <p:cNvGrpSpPr/>
            <p:nvPr/>
          </p:nvGrpSpPr>
          <p:grpSpPr>
            <a:xfrm>
              <a:off x="5531725" y="340959"/>
              <a:ext cx="228478" cy="228478"/>
              <a:chOff x="0" y="0"/>
              <a:chExt cx="812800" cy="812800"/>
            </a:xfrm>
          </p:grpSpPr>
          <p:sp>
            <p:nvSpPr>
              <p:cNvPr id="178" name="Google Shape;178;p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24A2D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" name="Google Shape;179;p10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0" name="Google Shape;180;p10"/>
            <p:cNvGrpSpPr/>
            <p:nvPr/>
          </p:nvGrpSpPr>
          <p:grpSpPr>
            <a:xfrm>
              <a:off x="11528518" y="340959"/>
              <a:ext cx="228478" cy="228478"/>
              <a:chOff x="0" y="0"/>
              <a:chExt cx="812800" cy="812800"/>
            </a:xfrm>
          </p:grpSpPr>
          <p:sp>
            <p:nvSpPr>
              <p:cNvPr id="181" name="Google Shape;181;p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24A2D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0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83" name="Google Shape;183;p10"/>
          <p:cNvSpPr txBox="1"/>
          <p:nvPr>
            <p:ph type="title"/>
          </p:nvPr>
        </p:nvSpPr>
        <p:spPr>
          <a:xfrm>
            <a:off x="462838" y="993388"/>
            <a:ext cx="570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marR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100"/>
              <a:buFont typeface="Anton"/>
              <a:buNone/>
              <a:defRPr i="0" sz="4100" u="none" cap="none" strike="noStrike">
                <a:solidFill>
                  <a:schemeClr val="accent2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/>
        </p:txBody>
      </p:sp>
      <p:grpSp>
        <p:nvGrpSpPr>
          <p:cNvPr id="184" name="Google Shape;184;p10"/>
          <p:cNvGrpSpPr/>
          <p:nvPr/>
        </p:nvGrpSpPr>
        <p:grpSpPr>
          <a:xfrm>
            <a:off x="85065" y="3622246"/>
            <a:ext cx="1405412" cy="1405412"/>
            <a:chOff x="0" y="0"/>
            <a:chExt cx="812800" cy="812800"/>
          </a:xfrm>
        </p:grpSpPr>
        <p:sp>
          <p:nvSpPr>
            <p:cNvPr id="185" name="Google Shape;185;p1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24A2D"/>
            </a:solidFill>
            <a:ln>
              <a:noFill/>
            </a:ln>
          </p:spPr>
        </p:sp>
        <p:sp>
          <p:nvSpPr>
            <p:cNvPr id="186" name="Google Shape;186;p10"/>
            <p:cNvSpPr txBox="1"/>
            <p:nvPr/>
          </p:nvSpPr>
          <p:spPr>
            <a:xfrm>
              <a:off x="127000" y="79375"/>
              <a:ext cx="558900" cy="60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7" name="Google Shape;187;p10"/>
          <p:cNvGrpSpPr/>
          <p:nvPr/>
        </p:nvGrpSpPr>
        <p:grpSpPr>
          <a:xfrm>
            <a:off x="8442426" y="296371"/>
            <a:ext cx="1405412" cy="1405412"/>
            <a:chOff x="0" y="0"/>
            <a:chExt cx="812800" cy="812800"/>
          </a:xfrm>
        </p:grpSpPr>
        <p:sp>
          <p:nvSpPr>
            <p:cNvPr id="188" name="Google Shape;188;p1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24A2D"/>
            </a:solidFill>
            <a:ln>
              <a:noFill/>
            </a:ln>
          </p:spPr>
        </p:sp>
        <p:sp>
          <p:nvSpPr>
            <p:cNvPr id="189" name="Google Shape;189;p10"/>
            <p:cNvSpPr txBox="1"/>
            <p:nvPr/>
          </p:nvSpPr>
          <p:spPr>
            <a:xfrm>
              <a:off x="127000" y="79375"/>
              <a:ext cx="558900" cy="60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1">
  <p:cSld name="TITLE_1">
    <p:bg>
      <p:bgPr>
        <a:solidFill>
          <a:schemeClr val="dk1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1" name="Google Shape;191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92" name="Google Shape;192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7" name="Google Shape;197;p11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22850" lIns="45725" spcFirstLastPara="1" rIns="45725" wrap="square" tIns="2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8" name="Google Shape;198;p11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rmAutofit/>
          </a:bodyPr>
          <a:lstStyle>
            <a:lvl1pPr lv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9" name="Google Shape;199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1" name="Google Shape;201;p12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202" name="Google Shape;202;p12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7" name="Google Shape;207;p1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08" name="Google Shape;208;p12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>
              <a:spcBef>
                <a:spcPts val="300"/>
              </a:spcBef>
              <a:spcAft>
                <a:spcPts val="0"/>
              </a:spcAft>
              <a:buSzPts val="1200"/>
              <a:buChar char="•"/>
              <a:defRPr/>
            </a:lvl1pPr>
            <a:lvl2pPr indent="-304800" lvl="1" marL="914400">
              <a:spcBef>
                <a:spcPts val="300"/>
              </a:spcBef>
              <a:spcAft>
                <a:spcPts val="0"/>
              </a:spcAft>
              <a:buSzPts val="1200"/>
              <a:buChar char="–"/>
              <a:defRPr/>
            </a:lvl2pPr>
            <a:lvl3pPr indent="-304800" lvl="2" marL="1371600">
              <a:spcBef>
                <a:spcPts val="200"/>
              </a:spcBef>
              <a:spcAft>
                <a:spcPts val="0"/>
              </a:spcAft>
              <a:buSzPts val="1200"/>
              <a:buChar char="•"/>
              <a:defRPr/>
            </a:lvl3pPr>
            <a:lvl4pPr indent="-304800" lvl="3" marL="1828800">
              <a:spcBef>
                <a:spcPts val="200"/>
              </a:spcBef>
              <a:spcAft>
                <a:spcPts val="0"/>
              </a:spcAft>
              <a:buSzPts val="1200"/>
              <a:buChar char="–"/>
              <a:defRPr/>
            </a:lvl4pPr>
            <a:lvl5pPr indent="-304800" lvl="4" marL="2286000">
              <a:spcBef>
                <a:spcPts val="200"/>
              </a:spcBef>
              <a:spcAft>
                <a:spcPts val="0"/>
              </a:spcAft>
              <a:buSzPts val="1200"/>
              <a:buChar char="»"/>
              <a:defRPr/>
            </a:lvl5pPr>
            <a:lvl6pPr indent="-304800" lvl="5" marL="2743200">
              <a:spcBef>
                <a:spcPts val="200"/>
              </a:spcBef>
              <a:spcAft>
                <a:spcPts val="0"/>
              </a:spcAft>
              <a:buSzPts val="1200"/>
              <a:buChar char="•"/>
              <a:defRPr/>
            </a:lvl6pPr>
            <a:lvl7pPr indent="-304800" lvl="6" marL="3200400">
              <a:spcBef>
                <a:spcPts val="200"/>
              </a:spcBef>
              <a:spcAft>
                <a:spcPts val="0"/>
              </a:spcAft>
              <a:buSzPts val="1200"/>
              <a:buChar char="•"/>
              <a:defRPr/>
            </a:lvl7pPr>
            <a:lvl8pPr indent="-304800" lvl="7" marL="3657600">
              <a:spcBef>
                <a:spcPts val="200"/>
              </a:spcBef>
              <a:spcAft>
                <a:spcPts val="0"/>
              </a:spcAft>
              <a:buSzPts val="1200"/>
              <a:buChar char="•"/>
              <a:defRPr/>
            </a:lvl8pPr>
            <a:lvl9pPr indent="-304800" lvl="8" marL="4114800">
              <a:spcBef>
                <a:spcPts val="200"/>
              </a:spcBef>
              <a:spcAft>
                <a:spcPts val="0"/>
              </a:spcAft>
              <a:buSzPts val="1200"/>
              <a:buChar char="•"/>
              <a:defRPr/>
            </a:lvl9pPr>
          </a:lstStyle>
          <a:p/>
        </p:txBody>
      </p:sp>
      <p:sp>
        <p:nvSpPr>
          <p:cNvPr id="209" name="Google Shape;209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62838" y="993388"/>
            <a:ext cx="570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marR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100"/>
              <a:buFont typeface="Anton"/>
              <a:buNone/>
              <a:defRPr i="0" sz="4100" u="none" cap="none" strike="noStrike">
                <a:solidFill>
                  <a:schemeClr val="accent2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087488" y="2225063"/>
            <a:ext cx="4114800" cy="22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marR="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nton"/>
              <a:buChar char="•"/>
              <a:defRPr i="0" sz="1200" u="none" cap="none" strike="noStrik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1pPr>
            <a:lvl2pPr indent="-304800" lvl="1" marL="914400" marR="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nton"/>
              <a:buChar char="–"/>
              <a:defRPr i="0" sz="1200" u="none" cap="none" strike="noStrik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2pPr>
            <a:lvl3pPr indent="-3048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nton"/>
              <a:buChar char="•"/>
              <a:defRPr i="0" sz="1200" u="none" cap="none" strike="noStrik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3pPr>
            <a:lvl4pPr indent="-304800" lvl="3" marL="1828800" marR="0" rtl="0" algn="l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nton"/>
              <a:buChar char="–"/>
              <a:defRPr i="0" sz="1200" u="none" cap="none" strike="noStrik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4pPr>
            <a:lvl5pPr indent="-304800" lvl="4" marL="2286000" marR="0" rtl="0" algn="l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nton"/>
              <a:buChar char="»"/>
              <a:defRPr i="0" sz="1200" u="none" cap="none" strike="noStrik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5pPr>
            <a:lvl6pPr indent="-304800" lvl="5" marL="2743200" marR="0" rtl="0" algn="l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nton"/>
              <a:buChar char="•"/>
              <a:defRPr i="0" sz="1200" u="none" cap="none" strike="noStrik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6pPr>
            <a:lvl7pPr indent="-304800" lvl="6" marL="3200400" marR="0" rtl="0" algn="l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nton"/>
              <a:buChar char="•"/>
              <a:defRPr i="0" sz="1200" u="none" cap="none" strike="noStrik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7pPr>
            <a:lvl8pPr indent="-304800" lvl="7" marL="3657600" marR="0" rtl="0" algn="l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nton"/>
              <a:buChar char="•"/>
              <a:defRPr i="0" sz="1200" u="none" cap="none" strike="noStrik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8pPr>
            <a:lvl9pPr indent="-304800" lvl="8" marL="4114800" marR="0" rtl="0" algn="l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nton"/>
              <a:buChar char="•"/>
              <a:defRPr i="0" sz="1200" u="none" cap="none" strike="noStrik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3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22850" lIns="45725" spcFirstLastPara="1" rIns="45725" wrap="square" tIns="228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Dynamites (Amazon DynamoDB)</a:t>
            </a:r>
            <a:endParaRPr/>
          </a:p>
        </p:txBody>
      </p:sp>
      <p:sp>
        <p:nvSpPr>
          <p:cNvPr id="215" name="Google Shape;215;p13"/>
          <p:cNvSpPr txBox="1"/>
          <p:nvPr>
            <p:ph idx="1" type="subTitle"/>
          </p:nvPr>
        </p:nvSpPr>
        <p:spPr>
          <a:xfrm>
            <a:off x="598100" y="2715950"/>
            <a:ext cx="8387400" cy="17136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CSC 134 - 05 Team 3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Harman Bassi, Paul DeCosta, Kanageshwaran Dhakshinamoorthy,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Jonathan Herman, Shane Orey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 and Introduction</a:t>
            </a:r>
            <a:endParaRPr/>
          </a:p>
        </p:txBody>
      </p:sp>
      <p:sp>
        <p:nvSpPr>
          <p:cNvPr id="221" name="Google Shape;221;p14"/>
          <p:cNvSpPr txBox="1"/>
          <p:nvPr>
            <p:ph idx="1" type="body"/>
          </p:nvPr>
        </p:nvSpPr>
        <p:spPr>
          <a:xfrm>
            <a:off x="311700" y="1229875"/>
            <a:ext cx="5587500" cy="20166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FFFF00"/>
                </a:solidFill>
              </a:rPr>
              <a:t>History of DynamoDB</a:t>
            </a:r>
            <a:endParaRPr sz="3500">
              <a:solidFill>
                <a:srgbClr val="FFFF00"/>
              </a:solidFill>
            </a:endParaRPr>
          </a:p>
          <a:p>
            <a:pPr indent="-361950" lvl="0" marL="457200" rtl="0" algn="l">
              <a:spcBef>
                <a:spcPts val="300"/>
              </a:spcBef>
              <a:spcAft>
                <a:spcPts val="0"/>
              </a:spcAft>
              <a:buSzPts val="2100"/>
              <a:buFont typeface="Times New Roman"/>
              <a:buChar char="-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Amazon DynamoDB was created by Amazon Web Services (AWS)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-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Announced on Jan 18, 2012 by </a:t>
            </a: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chief technical officer at Amazon.com, </a:t>
            </a:r>
            <a:r>
              <a:rPr lang="en" sz="21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Werner Vogels</a:t>
            </a:r>
            <a:endParaRPr sz="21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2" name="Google Shape;22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0075" y="1036787"/>
            <a:ext cx="2046625" cy="3069926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3" name="Google Shape;223;p14"/>
          <p:cNvSpPr txBox="1"/>
          <p:nvPr/>
        </p:nvSpPr>
        <p:spPr>
          <a:xfrm>
            <a:off x="6461188" y="4030525"/>
            <a:ext cx="1364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Werner Vogels</a:t>
            </a:r>
            <a:endParaRPr sz="1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4" name="Google Shape;224;p14"/>
          <p:cNvSpPr txBox="1"/>
          <p:nvPr>
            <p:ph idx="1" type="body"/>
          </p:nvPr>
        </p:nvSpPr>
        <p:spPr>
          <a:xfrm>
            <a:off x="311700" y="3162950"/>
            <a:ext cx="5587500" cy="17217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FFFF00"/>
                </a:solidFill>
              </a:rPr>
              <a:t>Primary Use Cases</a:t>
            </a:r>
            <a:endParaRPr sz="3500">
              <a:solidFill>
                <a:srgbClr val="FFFF00"/>
              </a:solidFill>
            </a:endParaRPr>
          </a:p>
          <a:p>
            <a:pPr indent="-361950" lvl="0" marL="457200" rtl="0" algn="l"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Times New Roman"/>
              <a:buChar char="-"/>
            </a:pPr>
            <a:r>
              <a:rPr lang="en" sz="21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Financial service applications</a:t>
            </a:r>
            <a:endParaRPr sz="21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Times New Roman"/>
              <a:buChar char="-"/>
            </a:pPr>
            <a:r>
              <a:rPr lang="en" sz="21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Gaming applications</a:t>
            </a:r>
            <a:endParaRPr sz="21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Times New Roman"/>
              <a:buChar char="-"/>
            </a:pPr>
            <a:r>
              <a:rPr lang="en" sz="21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Media streaming </a:t>
            </a:r>
            <a:r>
              <a:rPr lang="en" sz="21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" sz="21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pplications</a:t>
            </a:r>
            <a:endParaRPr sz="21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" name="Google Shape;225;p14"/>
          <p:cNvSpPr txBox="1"/>
          <p:nvPr>
            <p:ph idx="1" type="body"/>
          </p:nvPr>
        </p:nvSpPr>
        <p:spPr>
          <a:xfrm>
            <a:off x="7722000" y="4568875"/>
            <a:ext cx="1110300" cy="1929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"/>
              <a:t>Shane Orey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5"/>
          <p:cNvSpPr txBox="1"/>
          <p:nvPr>
            <p:ph idx="1" type="body"/>
          </p:nvPr>
        </p:nvSpPr>
        <p:spPr>
          <a:xfrm>
            <a:off x="311700" y="1229875"/>
            <a:ext cx="6646800" cy="19911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FFFF00"/>
                </a:solidFill>
              </a:rPr>
              <a:t>Open-Source Status</a:t>
            </a:r>
            <a:endParaRPr sz="3500">
              <a:solidFill>
                <a:srgbClr val="FFFF00"/>
              </a:solidFill>
            </a:endParaRPr>
          </a:p>
          <a:p>
            <a:pPr indent="-361950" lvl="0" marL="457200" rtl="0" algn="l">
              <a:spcBef>
                <a:spcPts val="300"/>
              </a:spcBef>
              <a:spcAft>
                <a:spcPts val="0"/>
              </a:spcAft>
              <a:buSzPts val="2100"/>
              <a:buFont typeface="Times New Roman"/>
              <a:buChar char="-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Amazon DynamoDB is closed-source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-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Similar open-source alternatives: 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2" marL="1371600" rtl="0" algn="l"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-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ScyllaDB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2" marL="1371600" rtl="0" algn="l"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-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Apache Cassandra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1" name="Google Shape;231;p1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 and Introduction</a:t>
            </a:r>
            <a:endParaRPr/>
          </a:p>
        </p:txBody>
      </p:sp>
      <p:sp>
        <p:nvSpPr>
          <p:cNvPr id="232" name="Google Shape;232;p15"/>
          <p:cNvSpPr txBox="1"/>
          <p:nvPr>
            <p:ph idx="1" type="body"/>
          </p:nvPr>
        </p:nvSpPr>
        <p:spPr>
          <a:xfrm>
            <a:off x="311700" y="3172750"/>
            <a:ext cx="6646800" cy="17355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FFFF00"/>
                </a:solidFill>
              </a:rPr>
              <a:t>Commercial</a:t>
            </a:r>
            <a:r>
              <a:rPr lang="en" sz="3500">
                <a:solidFill>
                  <a:srgbClr val="FFFF00"/>
                </a:solidFill>
              </a:rPr>
              <a:t> Status</a:t>
            </a:r>
            <a:endParaRPr sz="3500">
              <a:solidFill>
                <a:srgbClr val="FFFF00"/>
              </a:solidFill>
            </a:endParaRPr>
          </a:p>
          <a:p>
            <a:pPr indent="-361950" lvl="0" marL="457200" rtl="0" algn="l"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Times New Roman"/>
              <a:buChar char="-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Available</a:t>
            </a: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 for </a:t>
            </a:r>
            <a:r>
              <a:rPr lang="en" sz="21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consumer</a:t>
            </a: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" sz="21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commercial</a:t>
            </a: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 use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-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Notable Customers: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2" marL="1371600" rtl="0" algn="l"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-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Disney+, Dropbox, Zoom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3" name="Google Shape;23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7825" y="1229875"/>
            <a:ext cx="1680927" cy="9455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4" name="Google Shape;234;p15"/>
          <p:cNvGrpSpPr/>
          <p:nvPr/>
        </p:nvGrpSpPr>
        <p:grpSpPr>
          <a:xfrm>
            <a:off x="6748825" y="2290925"/>
            <a:ext cx="1946400" cy="1056900"/>
            <a:chOff x="4320250" y="2301150"/>
            <a:chExt cx="1946400" cy="1056900"/>
          </a:xfrm>
        </p:grpSpPr>
        <p:sp>
          <p:nvSpPr>
            <p:cNvPr id="235" name="Google Shape;235;p15"/>
            <p:cNvSpPr/>
            <p:nvPr/>
          </p:nvSpPr>
          <p:spPr>
            <a:xfrm>
              <a:off x="4320250" y="2301150"/>
              <a:ext cx="1946400" cy="1056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nton"/>
                <a:ea typeface="Anton"/>
                <a:cs typeface="Anton"/>
                <a:sym typeface="Anton"/>
              </a:endParaRPr>
            </a:p>
          </p:txBody>
        </p:sp>
        <p:pic>
          <p:nvPicPr>
            <p:cNvPr id="236" name="Google Shape;236;p1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320263" y="2301196"/>
              <a:ext cx="1946374" cy="105681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7" name="Google Shape;237;p15"/>
          <p:cNvGrpSpPr/>
          <p:nvPr/>
        </p:nvGrpSpPr>
        <p:grpSpPr>
          <a:xfrm>
            <a:off x="7253862" y="777083"/>
            <a:ext cx="1782735" cy="1002779"/>
            <a:chOff x="2541475" y="2198051"/>
            <a:chExt cx="2645400" cy="1488024"/>
          </a:xfrm>
        </p:grpSpPr>
        <p:sp>
          <p:nvSpPr>
            <p:cNvPr id="238" name="Google Shape;238;p15"/>
            <p:cNvSpPr/>
            <p:nvPr/>
          </p:nvSpPr>
          <p:spPr>
            <a:xfrm>
              <a:off x="2541475" y="2198075"/>
              <a:ext cx="2645400" cy="148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nton"/>
                <a:ea typeface="Anton"/>
                <a:cs typeface="Anton"/>
                <a:sym typeface="Anton"/>
              </a:endParaRPr>
            </a:p>
          </p:txBody>
        </p:sp>
        <p:pic>
          <p:nvPicPr>
            <p:cNvPr id="239" name="Google Shape;239;p1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541489" y="2198051"/>
              <a:ext cx="2645376" cy="14880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0" name="Google Shape;240;p15"/>
          <p:cNvSpPr txBox="1"/>
          <p:nvPr>
            <p:ph idx="1" type="body"/>
          </p:nvPr>
        </p:nvSpPr>
        <p:spPr>
          <a:xfrm>
            <a:off x="7722000" y="4568875"/>
            <a:ext cx="1110300" cy="1929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"/>
              <a:t>Shane Orey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Architecture</a:t>
            </a:r>
            <a:endParaRPr/>
          </a:p>
        </p:txBody>
      </p:sp>
      <p:sp>
        <p:nvSpPr>
          <p:cNvPr id="246" name="Google Shape;246;p16"/>
          <p:cNvSpPr txBox="1"/>
          <p:nvPr>
            <p:ph idx="1" type="body"/>
          </p:nvPr>
        </p:nvSpPr>
        <p:spPr>
          <a:xfrm>
            <a:off x="311700" y="1229875"/>
            <a:ext cx="8415900" cy="35148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FFFF00"/>
                </a:solidFill>
              </a:rPr>
              <a:t>System Architecture</a:t>
            </a:r>
            <a:endParaRPr sz="3500">
              <a:solidFill>
                <a:srgbClr val="FFFF00"/>
              </a:solidFill>
            </a:endParaRPr>
          </a:p>
          <a:p>
            <a:pPr indent="-361950" lvl="0" marL="457200" rtl="0" algn="l">
              <a:spcBef>
                <a:spcPts val="300"/>
              </a:spcBef>
              <a:spcAft>
                <a:spcPts val="0"/>
              </a:spcAft>
              <a:buSzPts val="2100"/>
              <a:buFont typeface="Times New Roman"/>
              <a:buChar char="-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Serverless, NoSQL database service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-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Data is stored on SSDs in Amazon’s fully managed servers and is replicated within many Availability Zones in a given AWS Region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-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Scalable and Elastic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-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Automatically allocates more storage as you store more data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-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Option to custom configure read/write speeds for a table to best suite table needs and traffic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-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Retrievals</a:t>
            </a: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 are based on </a:t>
            </a:r>
            <a:r>
              <a:rPr lang="en" sz="21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Key-Value</a:t>
            </a: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 or </a:t>
            </a:r>
            <a:r>
              <a:rPr lang="en" sz="21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</a:t>
            </a: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 data models.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7" name="Google Shape;247;p16"/>
          <p:cNvSpPr txBox="1"/>
          <p:nvPr>
            <p:ph idx="1" type="body"/>
          </p:nvPr>
        </p:nvSpPr>
        <p:spPr>
          <a:xfrm>
            <a:off x="7722000" y="4568875"/>
            <a:ext cx="1110300" cy="1929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"/>
              <a:t>Paul DeCosta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Architecture</a:t>
            </a:r>
            <a:endParaRPr/>
          </a:p>
        </p:txBody>
      </p:sp>
      <p:sp>
        <p:nvSpPr>
          <p:cNvPr id="253" name="Google Shape;253;p17"/>
          <p:cNvSpPr txBox="1"/>
          <p:nvPr>
            <p:ph idx="1" type="body"/>
          </p:nvPr>
        </p:nvSpPr>
        <p:spPr>
          <a:xfrm>
            <a:off x="311700" y="1229875"/>
            <a:ext cx="8415900" cy="35148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FFFF00"/>
                </a:solidFill>
              </a:rPr>
              <a:t>Supported Storage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spcBef>
                <a:spcPts val="300"/>
              </a:spcBef>
              <a:spcAft>
                <a:spcPts val="0"/>
              </a:spcAft>
              <a:buSzPts val="2100"/>
              <a:buFont typeface="Times New Roman"/>
              <a:buChar char="-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Items are set to be of size 1kb - 400kb.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-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Supports three data types (number, string, and binary)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-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ocument stores such as JSON, XML, or HTML are done in these data types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-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Tables do not have a fixed schema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-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Any number of attributes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-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Primary key can be a </a:t>
            </a:r>
            <a:r>
              <a:rPr lang="en" sz="21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single-attribute</a:t>
            </a: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 hash key or a </a:t>
            </a:r>
            <a:r>
              <a:rPr lang="en" sz="21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composite</a:t>
            </a: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 hash-range key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4" name="Google Shape;254;p17"/>
          <p:cNvSpPr txBox="1"/>
          <p:nvPr>
            <p:ph idx="1" type="body"/>
          </p:nvPr>
        </p:nvSpPr>
        <p:spPr>
          <a:xfrm>
            <a:off x="7722000" y="4568875"/>
            <a:ext cx="1110300" cy="1929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"/>
              <a:t>Paul DeCosta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Features and Capabilities</a:t>
            </a:r>
            <a:endParaRPr/>
          </a:p>
        </p:txBody>
      </p:sp>
      <p:sp>
        <p:nvSpPr>
          <p:cNvPr id="260" name="Google Shape;260;p18"/>
          <p:cNvSpPr txBox="1"/>
          <p:nvPr>
            <p:ph idx="1" type="body"/>
          </p:nvPr>
        </p:nvSpPr>
        <p:spPr>
          <a:xfrm>
            <a:off x="311700" y="1229875"/>
            <a:ext cx="8415900" cy="34302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FFFF00"/>
                </a:solidFill>
              </a:rPr>
              <a:t>Key Features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spcBef>
                <a:spcPts val="300"/>
              </a:spcBef>
              <a:spcAft>
                <a:spcPts val="0"/>
              </a:spcAft>
              <a:buSzPts val="2100"/>
              <a:buFont typeface="Times New Roman"/>
              <a:buChar char="-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Amazon DynamoDB is NoSQL </a:t>
            </a: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database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-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Also supports PartiQL which is a SQL-compatible query language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-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Concurrency Control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-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Data is replicated and stored across AWS servers with options to configure Regional replication for even more availability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-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Transaction Management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-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DynamoDB provides on-demand full backups of tables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-"/>
            </a:pPr>
            <a:r>
              <a:rPr lang="en" sz="21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Point-in-time</a:t>
            </a: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 recovery also allows you to restore a table to any point in time during the last 35 days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1" name="Google Shape;261;p18"/>
          <p:cNvSpPr txBox="1"/>
          <p:nvPr>
            <p:ph idx="1" type="body"/>
          </p:nvPr>
        </p:nvSpPr>
        <p:spPr>
          <a:xfrm>
            <a:off x="7722000" y="4568875"/>
            <a:ext cx="1110300" cy="1929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"/>
              <a:t>Harman Bassi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Features and Capabilities</a:t>
            </a:r>
            <a:endParaRPr/>
          </a:p>
        </p:txBody>
      </p:sp>
      <p:sp>
        <p:nvSpPr>
          <p:cNvPr id="267" name="Google Shape;267;p19"/>
          <p:cNvSpPr txBox="1"/>
          <p:nvPr>
            <p:ph idx="1" type="body"/>
          </p:nvPr>
        </p:nvSpPr>
        <p:spPr>
          <a:xfrm>
            <a:off x="311700" y="1077475"/>
            <a:ext cx="8415900" cy="36249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FFFF00"/>
                </a:solidFill>
              </a:rPr>
              <a:t>Key Features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spcBef>
                <a:spcPts val="300"/>
              </a:spcBef>
              <a:spcAft>
                <a:spcPts val="0"/>
              </a:spcAft>
              <a:buSzPts val="2100"/>
              <a:buFont typeface="Times New Roman"/>
              <a:buChar char="-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Scalability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-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DynamoDB is optimized for high-performance workloads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2" marL="1371600" rtl="0" algn="l"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-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Omits inefficient features for large scale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3" marL="1828800" rtl="0" algn="l"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-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Ex: JOIN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-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Offers pay-as-you-go pricing for read/write requests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-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Security Features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-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User data stored in Amazon DynamoDB is fully encrypted at rest using encryption keys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-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Access to data is authenticated using identities (AWS login credentials)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8" name="Google Shape;268;p19"/>
          <p:cNvSpPr txBox="1"/>
          <p:nvPr>
            <p:ph idx="1" type="body"/>
          </p:nvPr>
        </p:nvSpPr>
        <p:spPr>
          <a:xfrm>
            <a:off x="7722000" y="4568875"/>
            <a:ext cx="1110300" cy="1929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"/>
              <a:t>Harman Bassi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650"/>
              <a:t>Supported Data Models</a:t>
            </a:r>
            <a:endParaRPr sz="3650"/>
          </a:p>
        </p:txBody>
      </p:sp>
      <p:sp>
        <p:nvSpPr>
          <p:cNvPr id="274" name="Google Shape;274;p20"/>
          <p:cNvSpPr txBox="1"/>
          <p:nvPr>
            <p:ph idx="1" type="body"/>
          </p:nvPr>
        </p:nvSpPr>
        <p:spPr>
          <a:xfrm>
            <a:off x="311700" y="1153675"/>
            <a:ext cx="8415900" cy="20271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FFFF00"/>
                </a:solidFill>
              </a:rPr>
              <a:t>Key-Value Model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spcBef>
                <a:spcPts val="300"/>
              </a:spcBef>
              <a:spcAft>
                <a:spcPts val="0"/>
              </a:spcAft>
              <a:buSzPts val="2100"/>
              <a:buFont typeface="Times New Roman"/>
              <a:buChar char="-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on-relational database that uses the </a:t>
            </a:r>
            <a:r>
              <a:rPr lang="en" sz="21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key-value</a:t>
            </a: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 method to store data.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-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Allows for high levels of horizontal scaling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-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Applications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-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Web session management, Online shopping cart, Caching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5" name="Google Shape;275;p20"/>
          <p:cNvSpPr txBox="1"/>
          <p:nvPr>
            <p:ph idx="1" type="body"/>
          </p:nvPr>
        </p:nvSpPr>
        <p:spPr>
          <a:xfrm>
            <a:off x="311700" y="3003175"/>
            <a:ext cx="8415900" cy="17958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FFFF00"/>
                </a:solidFill>
              </a:rPr>
              <a:t>Document Model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spcBef>
                <a:spcPts val="300"/>
              </a:spcBef>
              <a:spcAft>
                <a:spcPts val="0"/>
              </a:spcAft>
              <a:buSzPts val="2100"/>
              <a:buFont typeface="Times New Roman"/>
              <a:buChar char="-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Non-relational</a:t>
            </a: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 database that can be used to store data as JSON-like documents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-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Applications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-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Content management, Catalogs, Sensor management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6" name="Google Shape;276;p20"/>
          <p:cNvSpPr txBox="1"/>
          <p:nvPr>
            <p:ph idx="1" type="body"/>
          </p:nvPr>
        </p:nvSpPr>
        <p:spPr>
          <a:xfrm>
            <a:off x="7527825" y="4409150"/>
            <a:ext cx="1304400" cy="3525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"/>
              <a:t>Kanageshwaran Dhakshinamoorthy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FFFF00"/>
                </a:solidFill>
              </a:rPr>
              <a:t>PartiQL</a:t>
            </a:r>
            <a:endParaRPr sz="3500">
              <a:solidFill>
                <a:srgbClr val="FFFF00"/>
              </a:solidFill>
            </a:endParaRPr>
          </a:p>
          <a:p>
            <a:pPr indent="-361950" lvl="0" marL="457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Times New Roman"/>
              <a:buChar char="-"/>
            </a:pPr>
            <a:r>
              <a:rPr lang="en" sz="21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SQL-compatible query language</a:t>
            </a:r>
            <a:endParaRPr sz="21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Times New Roman"/>
              <a:buChar char="-"/>
            </a:pPr>
            <a:r>
              <a:rPr lang="en" sz="21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Used to access data in many forms</a:t>
            </a:r>
            <a:endParaRPr sz="21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Times New Roman"/>
              <a:buChar char="-"/>
            </a:pPr>
            <a:r>
              <a:rPr lang="en" sz="21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Ex: Relational databases, Non-relational databases, and Data lakes</a:t>
            </a:r>
            <a:endParaRPr sz="21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FFFF00"/>
                </a:solidFill>
              </a:rPr>
              <a:t>JSON</a:t>
            </a:r>
            <a:endParaRPr sz="3500">
              <a:solidFill>
                <a:srgbClr val="FFFF00"/>
              </a:solidFill>
            </a:endParaRPr>
          </a:p>
          <a:p>
            <a:pPr indent="-361950" lvl="0" marL="457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100"/>
              <a:buFont typeface="Times New Roman"/>
              <a:buChar char="-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Plain-text format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-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Compatible with many programming languages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Query Language</a:t>
            </a:r>
            <a:r>
              <a:rPr lang="en"/>
              <a:t> and Syntax</a:t>
            </a:r>
            <a:endParaRPr/>
          </a:p>
        </p:txBody>
      </p:sp>
      <p:sp>
        <p:nvSpPr>
          <p:cNvPr id="283" name="Google Shape;283;p21"/>
          <p:cNvSpPr txBox="1"/>
          <p:nvPr>
            <p:ph idx="1" type="body"/>
          </p:nvPr>
        </p:nvSpPr>
        <p:spPr>
          <a:xfrm>
            <a:off x="7635375" y="4568875"/>
            <a:ext cx="1197000" cy="1929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"/>
              <a:t>Jonathan Herman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2"/>
          <p:cNvSpPr txBox="1"/>
          <p:nvPr/>
        </p:nvSpPr>
        <p:spPr>
          <a:xfrm>
            <a:off x="4305425" y="1653175"/>
            <a:ext cx="4693800" cy="310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“TableName”: “</a:t>
            </a:r>
            <a:r>
              <a:rPr lang="en" sz="1800">
                <a:highlight>
                  <a:srgbClr val="FF99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___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”,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“KeyConditionExpression”: “</a:t>
            </a:r>
            <a:r>
              <a:rPr lang="en" sz="1800">
                <a:highlight>
                  <a:srgbClr val="4A86E8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___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= :</a:t>
            </a:r>
            <a:r>
              <a:rPr lang="en" sz="1800">
                <a:highlight>
                  <a:srgbClr val="00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___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… ,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“ExpressionAttributeValues”: {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		“:</a:t>
            </a:r>
            <a:r>
              <a:rPr lang="en" sz="1800">
                <a:highlight>
                  <a:srgbClr val="00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___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” : “</a:t>
            </a:r>
            <a:r>
              <a:rPr lang="en" sz="1800"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___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” (, …)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Times New Roman"/>
                <a:ea typeface="Times New Roman"/>
                <a:cs typeface="Times New Roman"/>
                <a:sym typeface="Times New Roman"/>
              </a:rPr>
              <a:t>Key: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highlight>
                  <a:srgbClr val="FF99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___</a:t>
            </a:r>
            <a:r>
              <a:rPr lang="en" sz="1300">
                <a:latin typeface="Times New Roman"/>
                <a:ea typeface="Times New Roman"/>
                <a:cs typeface="Times New Roman"/>
                <a:sym typeface="Times New Roman"/>
              </a:rPr>
              <a:t> - Name of Table			</a:t>
            </a:r>
            <a:r>
              <a:rPr lang="en" sz="1300">
                <a:highlight>
                  <a:srgbClr val="4A86E8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___</a:t>
            </a:r>
            <a:r>
              <a:rPr lang="en" sz="1300">
                <a:latin typeface="Times New Roman"/>
                <a:ea typeface="Times New Roman"/>
                <a:cs typeface="Times New Roman"/>
                <a:sym typeface="Times New Roman"/>
              </a:rPr>
              <a:t> - Name of Attribute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highlight>
                  <a:srgbClr val="00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___</a:t>
            </a:r>
            <a:r>
              <a:rPr lang="en" sz="1300">
                <a:latin typeface="Times New Roman"/>
                <a:ea typeface="Times New Roman"/>
                <a:cs typeface="Times New Roman"/>
                <a:sym typeface="Times New Roman"/>
              </a:rPr>
              <a:t> - Attribute Alias Name		</a:t>
            </a:r>
            <a:r>
              <a:rPr lang="en" sz="1300"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___</a:t>
            </a:r>
            <a:r>
              <a:rPr lang="en" sz="1300">
                <a:latin typeface="Times New Roman"/>
                <a:ea typeface="Times New Roman"/>
                <a:cs typeface="Times New Roman"/>
                <a:sym typeface="Times New Roman"/>
              </a:rPr>
              <a:t> - Target Attribute Value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9" name="Google Shape;289;p22"/>
          <p:cNvSpPr txBox="1"/>
          <p:nvPr>
            <p:ph idx="1" type="body"/>
          </p:nvPr>
        </p:nvSpPr>
        <p:spPr>
          <a:xfrm>
            <a:off x="1485188" y="1113750"/>
            <a:ext cx="1341300" cy="5757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FFFF00"/>
                </a:solidFill>
              </a:rPr>
              <a:t>PartiQL</a:t>
            </a:r>
            <a:endParaRPr sz="3500">
              <a:solidFill>
                <a:srgbClr val="FFFF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0" name="Google Shape;290;p2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Query Language and </a:t>
            </a:r>
            <a:r>
              <a:rPr lang="en"/>
              <a:t>Syntax</a:t>
            </a:r>
            <a:endParaRPr/>
          </a:p>
        </p:txBody>
      </p:sp>
      <p:sp>
        <p:nvSpPr>
          <p:cNvPr id="291" name="Google Shape;291;p22"/>
          <p:cNvSpPr txBox="1"/>
          <p:nvPr>
            <p:ph idx="1" type="body"/>
          </p:nvPr>
        </p:nvSpPr>
        <p:spPr>
          <a:xfrm>
            <a:off x="6155813" y="1113750"/>
            <a:ext cx="993000" cy="5757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FFFF00"/>
                </a:solidFill>
              </a:rPr>
              <a:t>JSON</a:t>
            </a:r>
            <a:endParaRPr sz="3500">
              <a:solidFill>
                <a:srgbClr val="FFFF00"/>
              </a:solidFill>
            </a:endParaRPr>
          </a:p>
        </p:txBody>
      </p:sp>
      <p:sp>
        <p:nvSpPr>
          <p:cNvPr id="292" name="Google Shape;292;p22"/>
          <p:cNvSpPr txBox="1"/>
          <p:nvPr/>
        </p:nvSpPr>
        <p:spPr>
          <a:xfrm>
            <a:off x="144800" y="1653175"/>
            <a:ext cx="4096200" cy="3080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SELECT </a:t>
            </a:r>
            <a:r>
              <a:rPr i="1" lang="en" sz="2100">
                <a:solidFill>
                  <a:srgbClr val="F24A2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expression</a:t>
            </a: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 (, …)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FROM </a:t>
            </a:r>
            <a:r>
              <a:rPr i="1" lang="en" sz="2100">
                <a:solidFill>
                  <a:srgbClr val="F24A2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</a:t>
            </a: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(.</a:t>
            </a:r>
            <a:r>
              <a:rPr i="1" lang="en" sz="2100">
                <a:solidFill>
                  <a:srgbClr val="F24A2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index</a:t>
            </a: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[WHERE </a:t>
            </a:r>
            <a:r>
              <a:rPr i="1" lang="en" sz="2100">
                <a:solidFill>
                  <a:srgbClr val="F24A2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condition</a:t>
            </a: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 ] 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[ORDER BY </a:t>
            </a:r>
            <a:r>
              <a:rPr i="1" lang="en" sz="2100">
                <a:solidFill>
                  <a:srgbClr val="F24A2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</a:t>
            </a: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 [DESC|ASC], …];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*DynamoDB does not support all PartiQL statements such as JOIN.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3" name="Google Shape;293;p22"/>
          <p:cNvSpPr txBox="1"/>
          <p:nvPr>
            <p:ph idx="1" type="body"/>
          </p:nvPr>
        </p:nvSpPr>
        <p:spPr>
          <a:xfrm>
            <a:off x="7635375" y="4568875"/>
            <a:ext cx="1197000" cy="1929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Jonathan Herman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3"/>
          <p:cNvSpPr txBox="1"/>
          <p:nvPr/>
        </p:nvSpPr>
        <p:spPr>
          <a:xfrm>
            <a:off x="4305425" y="2491375"/>
            <a:ext cx="4693800" cy="2326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“TableName”: “</a:t>
            </a:r>
            <a:r>
              <a:rPr i="1" lang="en" sz="1800">
                <a:solidFill>
                  <a:srgbClr val="F24A2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i="1" lang="en" sz="1800">
                <a:solidFill>
                  <a:srgbClr val="F24A2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mployee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”,</a:t>
            </a:r>
            <a:endParaRPr sz="18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“Filter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Expression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”: “</a:t>
            </a:r>
            <a:r>
              <a:rPr i="1" lang="en" sz="1800">
                <a:solidFill>
                  <a:srgbClr val="F24A2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salary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&gt; :</a:t>
            </a:r>
            <a:r>
              <a:rPr i="1" lang="en" sz="1800">
                <a:solidFill>
                  <a:srgbClr val="F24A2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”,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“ExpressionAttributeValues”: {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		“:</a:t>
            </a:r>
            <a:r>
              <a:rPr i="1" lang="en" sz="1800">
                <a:solidFill>
                  <a:srgbClr val="F24A2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” : {“N” : “30000”}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“ProjectionExpression”: “</a:t>
            </a:r>
            <a:r>
              <a:rPr i="1" lang="en" sz="1800">
                <a:solidFill>
                  <a:srgbClr val="F24A2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salary, fname, lname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”</a:t>
            </a:r>
            <a:endParaRPr sz="18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9" name="Google Shape;299;p23"/>
          <p:cNvSpPr txBox="1"/>
          <p:nvPr>
            <p:ph idx="1" type="body"/>
          </p:nvPr>
        </p:nvSpPr>
        <p:spPr>
          <a:xfrm>
            <a:off x="1485188" y="1951950"/>
            <a:ext cx="1341300" cy="5757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FFFF00"/>
                </a:solidFill>
              </a:rPr>
              <a:t>PartiQL</a:t>
            </a:r>
            <a:endParaRPr sz="3500">
              <a:solidFill>
                <a:srgbClr val="FFFF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0" name="Google Shape;300;p2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Query Language and Syntax </a:t>
            </a:r>
            <a:r>
              <a:rPr lang="en">
                <a:solidFill>
                  <a:srgbClr val="FFFF00"/>
                </a:solidFill>
              </a:rPr>
              <a:t>Example</a:t>
            </a:r>
            <a:endParaRPr/>
          </a:p>
        </p:txBody>
      </p:sp>
      <p:sp>
        <p:nvSpPr>
          <p:cNvPr id="301" name="Google Shape;301;p23"/>
          <p:cNvSpPr txBox="1"/>
          <p:nvPr>
            <p:ph idx="1" type="body"/>
          </p:nvPr>
        </p:nvSpPr>
        <p:spPr>
          <a:xfrm>
            <a:off x="6155813" y="1951950"/>
            <a:ext cx="993000" cy="5757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FFFF00"/>
                </a:solidFill>
              </a:rPr>
              <a:t>JSON</a:t>
            </a:r>
            <a:endParaRPr sz="3500">
              <a:solidFill>
                <a:srgbClr val="FFFF00"/>
              </a:solidFill>
            </a:endParaRPr>
          </a:p>
        </p:txBody>
      </p:sp>
      <p:sp>
        <p:nvSpPr>
          <p:cNvPr id="302" name="Google Shape;302;p23"/>
          <p:cNvSpPr txBox="1"/>
          <p:nvPr/>
        </p:nvSpPr>
        <p:spPr>
          <a:xfrm>
            <a:off x="144800" y="2491375"/>
            <a:ext cx="4096200" cy="1157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 </a:t>
            </a:r>
            <a:r>
              <a:rPr i="1" lang="en" sz="2100">
                <a:solidFill>
                  <a:srgbClr val="F24A2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salary</a:t>
            </a:r>
            <a:r>
              <a:rPr i="1" lang="en" sz="2100"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i="1" lang="en" sz="2100">
                <a:solidFill>
                  <a:srgbClr val="F24A2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fname</a:t>
            </a:r>
            <a:r>
              <a:rPr i="1" lang="en" sz="2100"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i="1" lang="en" sz="2100">
                <a:solidFill>
                  <a:srgbClr val="F24A2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lname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</a:t>
            </a:r>
            <a:r>
              <a:rPr i="1" lang="en" sz="2100">
                <a:solidFill>
                  <a:srgbClr val="F24A2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Employee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WHERE </a:t>
            </a:r>
            <a:r>
              <a:rPr i="1" lang="en" sz="2100">
                <a:solidFill>
                  <a:srgbClr val="F24A2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salary &gt; 30000</a:t>
            </a:r>
            <a:r>
              <a:rPr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3" name="Google Shape;303;p23"/>
          <p:cNvSpPr txBox="1"/>
          <p:nvPr>
            <p:ph idx="1" type="body"/>
          </p:nvPr>
        </p:nvSpPr>
        <p:spPr>
          <a:xfrm>
            <a:off x="144800" y="1044625"/>
            <a:ext cx="8854500" cy="7548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</a:t>
            </a:r>
            <a:endParaRPr sz="21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Retrieve the salaries and names of all employees who make more that $30,000.</a:t>
            </a:r>
            <a:endParaRPr sz="21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4" name="Google Shape;304;p23"/>
          <p:cNvSpPr txBox="1"/>
          <p:nvPr>
            <p:ph idx="1" type="body"/>
          </p:nvPr>
        </p:nvSpPr>
        <p:spPr>
          <a:xfrm>
            <a:off x="7635375" y="4568875"/>
            <a:ext cx="1197000" cy="1929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Jonathan Herman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4"/>
          <p:cNvSpPr txBox="1"/>
          <p:nvPr/>
        </p:nvSpPr>
        <p:spPr>
          <a:xfrm>
            <a:off x="4305425" y="2491375"/>
            <a:ext cx="4693800" cy="2326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“TableName”: “</a:t>
            </a:r>
            <a:r>
              <a:rPr i="1" lang="en">
                <a:solidFill>
                  <a:srgbClr val="F24A2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Employee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”,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“Key”: {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	“ssn”: { “N”: “123687654” }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},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“UpdateExpression”: “SET </a:t>
            </a:r>
            <a:r>
              <a:rPr i="1" lang="en">
                <a:solidFill>
                  <a:srgbClr val="F24A2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salary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">
                <a:solidFill>
                  <a:srgbClr val="F24A2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salary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* :</a:t>
            </a:r>
            <a:r>
              <a:rPr lang="en">
                <a:solidFill>
                  <a:srgbClr val="00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”,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“ExpressionAttributeValues”: {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		“:</a:t>
            </a:r>
            <a:r>
              <a:rPr lang="en">
                <a:solidFill>
                  <a:srgbClr val="00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”: { “N”: “1.15” }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	}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0" name="Google Shape;310;p24"/>
          <p:cNvSpPr txBox="1"/>
          <p:nvPr>
            <p:ph idx="1" type="body"/>
          </p:nvPr>
        </p:nvSpPr>
        <p:spPr>
          <a:xfrm>
            <a:off x="1485188" y="1951950"/>
            <a:ext cx="1341300" cy="5757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FFFF00"/>
                </a:solidFill>
              </a:rPr>
              <a:t>PartiQL</a:t>
            </a:r>
            <a:endParaRPr sz="3500">
              <a:solidFill>
                <a:srgbClr val="FFFF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1" name="Google Shape;311;p2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Query Language and Syntax </a:t>
            </a:r>
            <a:r>
              <a:rPr lang="en">
                <a:solidFill>
                  <a:srgbClr val="FFFF00"/>
                </a:solidFill>
              </a:rPr>
              <a:t>Example</a:t>
            </a:r>
            <a:endParaRPr/>
          </a:p>
        </p:txBody>
      </p:sp>
      <p:sp>
        <p:nvSpPr>
          <p:cNvPr id="312" name="Google Shape;312;p24"/>
          <p:cNvSpPr txBox="1"/>
          <p:nvPr>
            <p:ph idx="1" type="body"/>
          </p:nvPr>
        </p:nvSpPr>
        <p:spPr>
          <a:xfrm>
            <a:off x="6155813" y="1951950"/>
            <a:ext cx="993000" cy="5757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FFFF00"/>
                </a:solidFill>
              </a:rPr>
              <a:t>JSON</a:t>
            </a:r>
            <a:endParaRPr sz="3500">
              <a:solidFill>
                <a:srgbClr val="FFFF00"/>
              </a:solidFill>
            </a:endParaRPr>
          </a:p>
        </p:txBody>
      </p:sp>
      <p:sp>
        <p:nvSpPr>
          <p:cNvPr id="313" name="Google Shape;313;p24"/>
          <p:cNvSpPr txBox="1"/>
          <p:nvPr/>
        </p:nvSpPr>
        <p:spPr>
          <a:xfrm>
            <a:off x="144800" y="2491375"/>
            <a:ext cx="4096200" cy="114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UPDATE </a:t>
            </a:r>
            <a:r>
              <a:rPr i="1" lang="en" sz="2100">
                <a:solidFill>
                  <a:srgbClr val="F24A2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Employee</a:t>
            </a:r>
            <a:endParaRPr i="1" sz="2100">
              <a:solidFill>
                <a:srgbClr val="F24A2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 </a:t>
            </a:r>
            <a:r>
              <a:rPr i="1" lang="en" sz="2100">
                <a:solidFill>
                  <a:srgbClr val="F24A2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salary</a:t>
            </a:r>
            <a:r>
              <a:rPr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" sz="2100">
                <a:solidFill>
                  <a:srgbClr val="F24A2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salary</a:t>
            </a:r>
            <a:r>
              <a:rPr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* 1.15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WHERE ssn = 123687654;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4" name="Google Shape;314;p24"/>
          <p:cNvSpPr txBox="1"/>
          <p:nvPr>
            <p:ph idx="1" type="body"/>
          </p:nvPr>
        </p:nvSpPr>
        <p:spPr>
          <a:xfrm>
            <a:off x="144800" y="1044625"/>
            <a:ext cx="8854500" cy="7548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</a:t>
            </a:r>
            <a:endParaRPr sz="21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Apply a 15% raise to the employee with SSN “123687654”.</a:t>
            </a:r>
            <a:endParaRPr sz="21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5" name="Google Shape;315;p24"/>
          <p:cNvSpPr txBox="1"/>
          <p:nvPr/>
        </p:nvSpPr>
        <p:spPr>
          <a:xfrm>
            <a:off x="144800" y="3672175"/>
            <a:ext cx="4096200" cy="114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-"/>
            </a:pPr>
            <a:r>
              <a:rPr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UPDATE </a:t>
            </a:r>
            <a:r>
              <a:rPr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</a:t>
            </a:r>
            <a:r>
              <a:rPr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requires key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-"/>
            </a:pPr>
            <a:r>
              <a:rPr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Only works for one item at a time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6" name="Google Shape;316;p24"/>
          <p:cNvSpPr txBox="1"/>
          <p:nvPr>
            <p:ph idx="1" type="body"/>
          </p:nvPr>
        </p:nvSpPr>
        <p:spPr>
          <a:xfrm>
            <a:off x="7635375" y="4568875"/>
            <a:ext cx="1197000" cy="1929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Jonathan Herman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Performance and Optimization</a:t>
            </a:r>
            <a:endParaRPr/>
          </a:p>
        </p:txBody>
      </p:sp>
      <p:sp>
        <p:nvSpPr>
          <p:cNvPr id="322" name="Google Shape;322;p25"/>
          <p:cNvSpPr txBox="1"/>
          <p:nvPr>
            <p:ph idx="1" type="body"/>
          </p:nvPr>
        </p:nvSpPr>
        <p:spPr>
          <a:xfrm>
            <a:off x="311700" y="1153675"/>
            <a:ext cx="8415900" cy="14940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FFFF00"/>
                </a:solidFill>
              </a:rPr>
              <a:t>Key-Value Scalability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spcBef>
                <a:spcPts val="300"/>
              </a:spcBef>
              <a:spcAft>
                <a:spcPts val="0"/>
              </a:spcAft>
              <a:buSzPts val="2100"/>
              <a:buFont typeface="Times New Roman"/>
              <a:buChar char="-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The key-value model allows for consistent single-digit millisecond performance whether there are 10 or 100 million users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3" name="Google Shape;323;p25"/>
          <p:cNvSpPr txBox="1"/>
          <p:nvPr>
            <p:ph idx="1" type="body"/>
          </p:nvPr>
        </p:nvSpPr>
        <p:spPr>
          <a:xfrm>
            <a:off x="364050" y="2597100"/>
            <a:ext cx="8415900" cy="22788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FFFF00"/>
                </a:solidFill>
              </a:rPr>
              <a:t>Query Optimization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spcBef>
                <a:spcPts val="300"/>
              </a:spcBef>
              <a:spcAft>
                <a:spcPts val="0"/>
              </a:spcAft>
              <a:buSzPts val="2100"/>
              <a:buFont typeface="Times New Roman"/>
              <a:buChar char="-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PartiQL allows for SQL-like queries with similar syntax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-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Inefficient query operations at scale are not allowed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-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Ex: JOIN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-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Updates to tuples can only be performed one at a time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-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Items are retrieved via keys; need key to update item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4" name="Google Shape;324;p25"/>
          <p:cNvSpPr txBox="1"/>
          <p:nvPr>
            <p:ph idx="1" type="body"/>
          </p:nvPr>
        </p:nvSpPr>
        <p:spPr>
          <a:xfrm>
            <a:off x="7722000" y="4568875"/>
            <a:ext cx="1110300" cy="1929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"/>
              <a:t>Paul DeCosta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Cases and Examples</a:t>
            </a:r>
            <a:endParaRPr/>
          </a:p>
        </p:txBody>
      </p:sp>
      <p:sp>
        <p:nvSpPr>
          <p:cNvPr id="330" name="Google Shape;330;p26"/>
          <p:cNvSpPr txBox="1"/>
          <p:nvPr>
            <p:ph idx="1" type="body"/>
          </p:nvPr>
        </p:nvSpPr>
        <p:spPr>
          <a:xfrm>
            <a:off x="311700" y="1153675"/>
            <a:ext cx="8415900" cy="35832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FFFF00"/>
                </a:solidFill>
              </a:rPr>
              <a:t>Real-World Applications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spcBef>
                <a:spcPts val="300"/>
              </a:spcBef>
              <a:spcAft>
                <a:spcPts val="0"/>
              </a:spcAft>
              <a:buSzPts val="2100"/>
              <a:buFont typeface="Times New Roman"/>
              <a:buChar char="-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Zoom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-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Unexpected usage </a:t>
            </a: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growth</a:t>
            </a: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 from 10 to 300M daily meeting participants in early 2020 called for a database migration to handle the scale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-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Amazon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-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Migrated database architecture to DynamoDB to provide faster response times as previously, heavy loads would dramatically increase response times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2" marL="1371600" rtl="0" algn="l"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-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Ex: Amazon Prime Day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1" name="Google Shape;331;p26"/>
          <p:cNvSpPr txBox="1"/>
          <p:nvPr>
            <p:ph idx="1" type="body"/>
          </p:nvPr>
        </p:nvSpPr>
        <p:spPr>
          <a:xfrm>
            <a:off x="7722000" y="4568875"/>
            <a:ext cx="1110300" cy="1929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"/>
              <a:t>Shane Orey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Cases and Examples</a:t>
            </a:r>
            <a:endParaRPr/>
          </a:p>
        </p:txBody>
      </p:sp>
      <p:sp>
        <p:nvSpPr>
          <p:cNvPr id="337" name="Google Shape;337;p27"/>
          <p:cNvSpPr txBox="1"/>
          <p:nvPr>
            <p:ph idx="1" type="body"/>
          </p:nvPr>
        </p:nvSpPr>
        <p:spPr>
          <a:xfrm>
            <a:off x="311700" y="1153675"/>
            <a:ext cx="8415900" cy="20214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FFFF00"/>
                </a:solidFill>
              </a:rPr>
              <a:t>Types of Organizations Benefitted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spcBef>
                <a:spcPts val="300"/>
              </a:spcBef>
              <a:spcAft>
                <a:spcPts val="0"/>
              </a:spcAft>
              <a:buSzPts val="2100"/>
              <a:buFont typeface="Times New Roman"/>
              <a:buChar char="-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Working at large scale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-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Media content streaming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-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Online e-commerce with </a:t>
            </a: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online</a:t>
            </a: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 shopping carts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-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Video game services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38" name="Google Shape;33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750" y="3819100"/>
            <a:ext cx="1942075" cy="82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42213" y="3213575"/>
            <a:ext cx="2137600" cy="111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31650" y="3213575"/>
            <a:ext cx="1793325" cy="102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99197" y="3999408"/>
            <a:ext cx="1839978" cy="78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2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824370" y="1868895"/>
            <a:ext cx="1903225" cy="918575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27"/>
          <p:cNvSpPr txBox="1"/>
          <p:nvPr>
            <p:ph idx="1" type="body"/>
          </p:nvPr>
        </p:nvSpPr>
        <p:spPr>
          <a:xfrm>
            <a:off x="7722000" y="4568875"/>
            <a:ext cx="1110300" cy="1929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"/>
              <a:t>Shane Orey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Advantages and Disadvantages</a:t>
            </a:r>
            <a:endParaRPr/>
          </a:p>
        </p:txBody>
      </p:sp>
      <p:sp>
        <p:nvSpPr>
          <p:cNvPr id="349" name="Google Shape;349;p28"/>
          <p:cNvSpPr txBox="1"/>
          <p:nvPr>
            <p:ph idx="1" type="body"/>
          </p:nvPr>
        </p:nvSpPr>
        <p:spPr>
          <a:xfrm>
            <a:off x="1154900" y="1113750"/>
            <a:ext cx="2248500" cy="5757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FFFF00"/>
                </a:solidFill>
              </a:rPr>
              <a:t>Advantages</a:t>
            </a:r>
            <a:endParaRPr sz="3500">
              <a:solidFill>
                <a:srgbClr val="FFFF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0" name="Google Shape;350;p28"/>
          <p:cNvSpPr txBox="1"/>
          <p:nvPr>
            <p:ph idx="1" type="body"/>
          </p:nvPr>
        </p:nvSpPr>
        <p:spPr>
          <a:xfrm>
            <a:off x="149000" y="1689450"/>
            <a:ext cx="4260300" cy="30723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Times New Roman"/>
              <a:buChar char="-"/>
            </a:pPr>
            <a:r>
              <a:rPr lang="en" sz="21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Serverless</a:t>
            </a:r>
            <a:endParaRPr sz="21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imes New Roman"/>
              <a:buChar char="-"/>
            </a:pPr>
            <a:r>
              <a:rPr lang="en" sz="1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Requires No M</a:t>
            </a:r>
            <a:r>
              <a:rPr lang="en" sz="1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aintenance</a:t>
            </a:r>
            <a:endParaRPr sz="1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imes New Roman"/>
              <a:buChar char="-"/>
            </a:pPr>
            <a:r>
              <a:rPr lang="en" sz="1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Versions</a:t>
            </a:r>
            <a:endParaRPr sz="1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imes New Roman"/>
              <a:buChar char="-"/>
            </a:pPr>
            <a:r>
              <a:rPr lang="en" sz="1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Zero Downtime</a:t>
            </a:r>
            <a:endParaRPr sz="1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Times New Roman"/>
              <a:buChar char="-"/>
            </a:pPr>
            <a:r>
              <a:rPr lang="en" sz="21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Scalability</a:t>
            </a:r>
            <a:endParaRPr sz="21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imes New Roman"/>
              <a:buChar char="-"/>
            </a:pPr>
            <a:r>
              <a:rPr lang="en" sz="1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Key-Value/Document models maintain efficiency at any scale</a:t>
            </a:r>
            <a:endParaRPr sz="1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Times New Roman"/>
              <a:buChar char="-"/>
            </a:pPr>
            <a:r>
              <a:rPr lang="en" sz="21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Speed</a:t>
            </a:r>
            <a:endParaRPr sz="21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imes New Roman"/>
              <a:buChar char="-"/>
            </a:pPr>
            <a:r>
              <a:rPr lang="en" sz="1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Single-digit millisecond performance</a:t>
            </a:r>
            <a:endParaRPr sz="1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Times New Roman"/>
              <a:buChar char="-"/>
            </a:pPr>
            <a:r>
              <a:rPr lang="en" sz="21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On-Demand Pricing</a:t>
            </a:r>
            <a:endParaRPr sz="21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1" name="Google Shape;351;p28"/>
          <p:cNvSpPr txBox="1"/>
          <p:nvPr>
            <p:ph idx="1" type="body"/>
          </p:nvPr>
        </p:nvSpPr>
        <p:spPr>
          <a:xfrm>
            <a:off x="5223100" y="1113750"/>
            <a:ext cx="2766000" cy="5757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FFFF00"/>
                </a:solidFill>
              </a:rPr>
              <a:t>Disadvantages</a:t>
            </a:r>
            <a:endParaRPr sz="3500">
              <a:solidFill>
                <a:srgbClr val="FFFF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2" name="Google Shape;352;p28"/>
          <p:cNvSpPr txBox="1"/>
          <p:nvPr>
            <p:ph idx="1" type="body"/>
          </p:nvPr>
        </p:nvSpPr>
        <p:spPr>
          <a:xfrm>
            <a:off x="4475950" y="1689450"/>
            <a:ext cx="4260300" cy="30723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Times New Roman"/>
              <a:buChar char="-"/>
            </a:pPr>
            <a:r>
              <a:rPr lang="en" sz="21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Limited Querying Operations</a:t>
            </a:r>
            <a:endParaRPr sz="21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imes New Roman"/>
              <a:buChar char="-"/>
            </a:pPr>
            <a:r>
              <a:rPr lang="en" sz="1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Ex: No JOIN Operator</a:t>
            </a:r>
            <a:endParaRPr sz="1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Times New Roman"/>
              <a:buChar char="-"/>
            </a:pPr>
            <a:r>
              <a:rPr lang="en" sz="21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Large Scale Updates</a:t>
            </a:r>
            <a:endParaRPr sz="21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imes New Roman"/>
              <a:buChar char="-"/>
            </a:pPr>
            <a:r>
              <a:rPr lang="en" sz="1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Need to update each item individually</a:t>
            </a:r>
            <a:endParaRPr sz="1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Times New Roman"/>
              <a:buChar char="-"/>
            </a:pPr>
            <a:r>
              <a:rPr lang="en" sz="21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Item Storage Limit</a:t>
            </a:r>
            <a:endParaRPr sz="21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imes New Roman"/>
              <a:buChar char="-"/>
            </a:pPr>
            <a:r>
              <a:rPr lang="en" sz="1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item is limited to 400kb in size</a:t>
            </a:r>
            <a:endParaRPr sz="1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imes New Roman"/>
              <a:buChar char="-"/>
            </a:pPr>
            <a:r>
              <a:rPr lang="en" sz="1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Cannot be user increased</a:t>
            </a:r>
            <a:endParaRPr sz="1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3" name="Google Shape;353;p28"/>
          <p:cNvSpPr txBox="1"/>
          <p:nvPr>
            <p:ph idx="1" type="body"/>
          </p:nvPr>
        </p:nvSpPr>
        <p:spPr>
          <a:xfrm>
            <a:off x="7635375" y="4568875"/>
            <a:ext cx="1197000" cy="1929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Jonathan Herman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Trends and Development</a:t>
            </a:r>
            <a:endParaRPr/>
          </a:p>
        </p:txBody>
      </p:sp>
      <p:sp>
        <p:nvSpPr>
          <p:cNvPr id="359" name="Google Shape;359;p29"/>
          <p:cNvSpPr txBox="1"/>
          <p:nvPr>
            <p:ph idx="1" type="body"/>
          </p:nvPr>
        </p:nvSpPr>
        <p:spPr>
          <a:xfrm>
            <a:off x="311700" y="2377600"/>
            <a:ext cx="8415900" cy="24618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FFFF00"/>
                </a:solidFill>
              </a:rPr>
              <a:t>Development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SzPts val="2100"/>
              <a:buFont typeface="Times New Roman"/>
              <a:buChar char="-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New features, improving cost-efficiency, and enhancing scalability to meet changing customer needs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-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Creating a ecosystem where DynamoDB integrates effortlessly with other AWS services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0" name="Google Shape;360;p29"/>
          <p:cNvSpPr txBox="1"/>
          <p:nvPr>
            <p:ph idx="1" type="body"/>
          </p:nvPr>
        </p:nvSpPr>
        <p:spPr>
          <a:xfrm>
            <a:off x="311700" y="984075"/>
            <a:ext cx="8415900" cy="13173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FFFF00"/>
                </a:solidFill>
              </a:rPr>
              <a:t>Future Trends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SzPts val="2100"/>
              <a:buFont typeface="Times New Roman"/>
              <a:buChar char="-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Higher degrees of compatibility and </a:t>
            </a: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integration</a:t>
            </a: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 into company’s workflows as their data demands continue to grow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1" name="Google Shape;361;p29"/>
          <p:cNvSpPr txBox="1"/>
          <p:nvPr>
            <p:ph idx="1" type="body"/>
          </p:nvPr>
        </p:nvSpPr>
        <p:spPr>
          <a:xfrm>
            <a:off x="7722000" y="4568875"/>
            <a:ext cx="1110300" cy="1929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"/>
              <a:t>Harman Bassi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Ethical Code Thesis Defense">
  <a:themeElements>
    <a:clrScheme name="Office">
      <a:dk1>
        <a:srgbClr val="000000"/>
      </a:dk1>
      <a:lt1>
        <a:srgbClr val="FFFFFF"/>
      </a:lt1>
      <a:dk2>
        <a:srgbClr val="F24A2D"/>
      </a:dk2>
      <a:lt2>
        <a:srgbClr val="888888"/>
      </a:lt2>
      <a:accent1>
        <a:srgbClr val="313131"/>
      </a:accent1>
      <a:accent2>
        <a:srgbClr val="FFFFFF"/>
      </a:accent2>
      <a:accent3>
        <a:srgbClr val="F24A2D"/>
      </a:accent3>
      <a:accent4>
        <a:srgbClr val="888888"/>
      </a:accent4>
      <a:accent5>
        <a:srgbClr val="313131"/>
      </a:accent5>
      <a:accent6>
        <a:srgbClr val="FFFFFF"/>
      </a:accent6>
      <a:hlink>
        <a:srgbClr val="F24A2D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